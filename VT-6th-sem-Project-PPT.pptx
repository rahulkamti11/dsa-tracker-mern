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8" d="100"/>
          <a:sy n="68" d="100"/>
        </p:scale>
        <p:origin x="5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Retention %</c:v>
                </c:pt>
              </c:strCache>
            </c:strRef>
          </c:tx>
          <c:spPr>
            <a:ln w="38100" cap="flat">
              <a:solidFill>
                <a:srgbClr val="FB7185"/>
              </a:solidFill>
              <a:prstDash val="solid"/>
              <a:round/>
            </a:ln>
            <a:effectLst/>
          </c:spPr>
          <c:marker>
            <c:symbol val="circle"/>
            <c:size val="6"/>
            <c:spPr>
              <a:solidFill>
                <a:srgbClr val="FB7185"/>
              </a:solidFill>
              <a:ln w="9525" cap="flat">
                <a:solidFill>
                  <a:srgbClr val="FB7185"/>
                </a:solidFill>
                <a:prstDash val="solid"/>
                <a:round/>
              </a:ln>
              <a:effectLst/>
            </c:spPr>
          </c:marker>
          <c:dLbls>
            <c:numFmt formatCode="#,##0" sourceLinked="0"/>
            <c:spPr>
              <a:noFill/>
              <a:ln>
                <a:noFill/>
              </a:ln>
              <a:effectLst/>
            </c:spPr>
            <c:txPr>
              <a:bodyPr/>
              <a:lstStyle/>
              <a:p>
                <a:pPr>
                  <a:defRPr sz="900" b="0" i="0" u="none" strike="noStrike">
                    <a:solidFill>
                      <a:srgbClr val="E2E8F0"/>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Day 0</c:v>
                </c:pt>
                <c:pt idx="1">
                  <c:v>Day 7</c:v>
                </c:pt>
                <c:pt idx="2">
                  <c:v>Day 14</c:v>
                </c:pt>
                <c:pt idx="3">
                  <c:v>Day 21</c:v>
                </c:pt>
                <c:pt idx="4">
                  <c:v>Day 30</c:v>
                </c:pt>
              </c:strCache>
            </c:strRef>
          </c:cat>
          <c:val>
            <c:numRef>
              <c:f>Sheet1!$B$2:$B$6</c:f>
              <c:numCache>
                <c:formatCode>General</c:formatCode>
                <c:ptCount val="5"/>
                <c:pt idx="0">
                  <c:v>100</c:v>
                </c:pt>
                <c:pt idx="1">
                  <c:v>55</c:v>
                </c:pt>
                <c:pt idx="2">
                  <c:v>35</c:v>
                </c:pt>
                <c:pt idx="3">
                  <c:v>22</c:v>
                </c:pt>
                <c:pt idx="4">
                  <c:v>15</c:v>
                </c:pt>
              </c:numCache>
            </c:numRef>
          </c:val>
          <c:smooth val="1"/>
          <c:extLst>
            <c:ext xmlns:c16="http://schemas.microsoft.com/office/drawing/2014/chart" uri="{C3380CC4-5D6E-409C-BE32-E72D297353CC}">
              <c16:uniqueId val="{00000000-D501-422F-B1FD-4CA46232AD9D}"/>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1E293B"/>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293B"/>
              </a:solidFill>
              <a:prstDash val="solid"/>
              <a:round/>
            </a:ln>
          </c:spPr>
        </c:majorGridlines>
        <c:numFmt formatCode="General" sourceLinked="0"/>
        <c:majorTickMark val="out"/>
        <c:minorTickMark val="none"/>
        <c:tickLblPos val="nextTo"/>
        <c:spPr>
          <a:ln w="12700" cap="flat">
            <a:solidFill>
              <a:srgbClr val="1E293B"/>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solidFill>
          <a:srgbClr val="0F172A"/>
        </a:solidFill>
        <a:ln>
          <a:noFill/>
        </a:ln>
        <a:effectLst/>
      </c:spPr>
    </c:plotArea>
    <c:plotVisOnly val="1"/>
    <c:dispBlanksAs val="span"/>
    <c:showDLblsOverMax val="1"/>
  </c:chart>
  <c:spPr>
    <a:solidFill>
      <a:srgbClr val="0F172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184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I'm presenting the DSA Tracker with Spaced Repetition, a full-stack MERN application. Preparing for coding interviews isn't just about solving hundreds of questions — it's about retaining concepts over time. This app solves the forgetting curve using a custom spaced-repetition engine, combined with custom list curation and productivity analytics.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DSA preparation, a major bottleneck is the forgetting curve — we solve a graph or DP problem today, but three weeks later the exact intuition feels foreign. Standard platforms log submissions but don't help schedule reviews, take structured notes, or group problems into custom study lists. That's the problem this application solves.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DSA Tracker integrates three major systems: a spaced-repetition engine, a dynamic analytics dashboard, and a markdown-based note-taking module. Guest Mode lowers the entry barrier — users can try it locally before creating an account and syncing to the cloud.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complete a problem, clicking Mark Done prompts a modal to configure the interval. Easy problems might get a 14 or 30-day reminder; complex DP problems might get 2 days. The system sorts everything into Due Today, Overdue, and Upcoming queues.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Consistency is the single most important factor in DSA prep. Our dashboard includes a 90-day activity heatmap styled after GitHub's contribution graph, plus quick stat cards and difficulty distribution bars for balanced practice.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organize preparation, we support Custom Collections like Blind 75 or Top Graph Patterns with accent gradients. Each problem has a markdown note slot supporting bold, code blocks, and complexity annotations, viewable instantly via a quick-view modal.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entirely JavaScript. React with Vite on the client, styled with Tailwind. Express/Node on the backend. MongoDB was chosen because DSA records have variable properties — tags, platform links, notes. Mongoose connects Express to MongoDB, and JWT secures user records.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ensure a premium experience, we integrated two safety nets. Accidental deletion moves items to a recoverable Recycle Bin. And at any point, users can export their entire tracker history in JSON or CSV format for backup or migration.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moment you open the app, a seeded guest token logs you in automatically. If you decide to save data permanently, registering triggers a sync call — the backend migrates all problems and collections by updating MongoDB document owner IDs.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highly automated via npm workspaces. Hardware requirements are light enough for any dev machine. One command installs all dependencies, and a single npm run dev boots both the backend and frontend dev servers.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forward: a Chrome extension to auto-log LeetCode submissions, AI-assisted note summaries and complexity suggestions, and cooperative public list sharing for study groups, followed by native mobile packaging.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DSA Tracker solves the core issue of conceptual retention during coding interview prep, using a structured spaced-repetition queue, markdown notes, and local fallback states. Thank you — I'd like to open the floor to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0" y="822960"/>
            <a:ext cx="12188952" cy="1463040"/>
          </a:xfrm>
          <a:prstGeom prst="rect">
            <a:avLst/>
          </a:prstGeom>
          <a:noFill/>
          <a:ln/>
        </p:spPr>
        <p:txBody>
          <a:bodyPr wrap="square" rtlCol="0" anchor="ctr"/>
          <a:lstStyle/>
          <a:p>
            <a:pPr marL="0" indent="0" algn="ctr">
              <a:buNone/>
            </a:pPr>
            <a:r>
              <a:rPr lang="en-US" sz="6000" b="1" dirty="0">
                <a:solidFill>
                  <a:srgbClr val="94A3B8"/>
                </a:solidFill>
                <a:latin typeface="Consolas" pitchFamily="34" charset="0"/>
                <a:ea typeface="Consolas" pitchFamily="34" charset="-122"/>
                <a:cs typeface="Consolas" pitchFamily="34" charset="-120"/>
              </a:rPr>
              <a:t>&lt; </a:t>
            </a:r>
            <a:r>
              <a:rPr lang="en-US" sz="6000" b="1" dirty="0">
                <a:solidFill>
                  <a:srgbClr val="22D3EE"/>
                </a:solidFill>
                <a:latin typeface="Consolas" pitchFamily="34" charset="0"/>
                <a:ea typeface="Consolas" pitchFamily="34" charset="-122"/>
                <a:cs typeface="Consolas" pitchFamily="34" charset="-120"/>
              </a:rPr>
              <a:t>/</a:t>
            </a:r>
            <a:r>
              <a:rPr lang="en-US" sz="6000" b="1" dirty="0">
                <a:solidFill>
                  <a:srgbClr val="94A3B8"/>
                </a:solidFill>
                <a:latin typeface="Consolas" pitchFamily="34" charset="0"/>
                <a:ea typeface="Consolas" pitchFamily="34" charset="-122"/>
                <a:cs typeface="Consolas" pitchFamily="34" charset="-120"/>
              </a:rPr>
              <a:t> &gt;</a:t>
            </a:r>
            <a:endParaRPr lang="en-US" sz="6000" dirty="0"/>
          </a:p>
        </p:txBody>
      </p:sp>
      <p:sp>
        <p:nvSpPr>
          <p:cNvPr id="3" name="Text 1"/>
          <p:cNvSpPr/>
          <p:nvPr/>
        </p:nvSpPr>
        <p:spPr>
          <a:xfrm>
            <a:off x="731520" y="2377440"/>
            <a:ext cx="10725912" cy="91440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DSA Tracker with Spaced Repetition</a:t>
            </a:r>
            <a:endParaRPr lang="en-US" sz="4000" dirty="0"/>
          </a:p>
        </p:txBody>
      </p:sp>
      <p:sp>
        <p:nvSpPr>
          <p:cNvPr id="4" name="Text 2"/>
          <p:cNvSpPr/>
          <p:nvPr/>
        </p:nvSpPr>
        <p:spPr>
          <a:xfrm>
            <a:off x="914400" y="3200400"/>
            <a:ext cx="10360152" cy="548640"/>
          </a:xfrm>
          <a:prstGeom prst="rect">
            <a:avLst/>
          </a:prstGeom>
          <a:noFill/>
          <a:ln/>
        </p:spPr>
        <p:txBody>
          <a:bodyPr wrap="square" rtlCol="0" anchor="ctr"/>
          <a:lstStyle/>
          <a:p>
            <a:pPr marL="0" indent="0" algn="ctr">
              <a:buNone/>
            </a:pPr>
            <a:r>
              <a:rPr lang="en-US" sz="1600" i="1" dirty="0">
                <a:solidFill>
                  <a:srgbClr val="22D3EE"/>
                </a:solidFill>
              </a:rPr>
              <a:t>A MERN-Based Full-Stack DSA Practice &amp; Revision Application</a:t>
            </a:r>
            <a:endParaRPr lang="en-US" sz="1600" dirty="0"/>
          </a:p>
        </p:txBody>
      </p:sp>
      <p:sp>
        <p:nvSpPr>
          <p:cNvPr id="5" name="Shape 3"/>
          <p:cNvSpPr/>
          <p:nvPr/>
        </p:nvSpPr>
        <p:spPr>
          <a:xfrm>
            <a:off x="2276856" y="4114800"/>
            <a:ext cx="1737360" cy="457200"/>
          </a:xfrm>
          <a:prstGeom prst="roundRect">
            <a:avLst>
              <a:gd name="adj" fmla="val 16000"/>
            </a:avLst>
          </a:prstGeom>
          <a:solidFill>
            <a:srgbClr val="0F172A"/>
          </a:solidFill>
          <a:ln w="12700">
            <a:solidFill>
              <a:srgbClr val="1E293B"/>
            </a:solidFill>
            <a:prstDash val="solid"/>
          </a:ln>
        </p:spPr>
      </p:sp>
      <p:sp>
        <p:nvSpPr>
          <p:cNvPr id="6" name="Text 4"/>
          <p:cNvSpPr/>
          <p:nvPr/>
        </p:nvSpPr>
        <p:spPr>
          <a:xfrm>
            <a:off x="2276856" y="4114800"/>
            <a:ext cx="1737360" cy="457200"/>
          </a:xfrm>
          <a:prstGeom prst="rect">
            <a:avLst/>
          </a:prstGeom>
          <a:noFill/>
          <a:ln/>
        </p:spPr>
        <p:txBody>
          <a:bodyPr wrap="square" rtlCol="0" anchor="ctr"/>
          <a:lstStyle/>
          <a:p>
            <a:pPr marL="0" indent="0" algn="ctr">
              <a:buNone/>
            </a:pPr>
            <a:r>
              <a:rPr lang="en-US" sz="1200" b="1" dirty="0">
                <a:solidFill>
                  <a:srgbClr val="E2E8F0"/>
                </a:solidFill>
              </a:rPr>
              <a:t>MongoDB</a:t>
            </a:r>
            <a:endParaRPr lang="en-US" sz="1200" dirty="0"/>
          </a:p>
        </p:txBody>
      </p:sp>
      <p:sp>
        <p:nvSpPr>
          <p:cNvPr id="7" name="Shape 5"/>
          <p:cNvSpPr/>
          <p:nvPr/>
        </p:nvSpPr>
        <p:spPr>
          <a:xfrm>
            <a:off x="4242816" y="4114800"/>
            <a:ext cx="1737360" cy="457200"/>
          </a:xfrm>
          <a:prstGeom prst="roundRect">
            <a:avLst>
              <a:gd name="adj" fmla="val 16000"/>
            </a:avLst>
          </a:prstGeom>
          <a:solidFill>
            <a:srgbClr val="0F172A"/>
          </a:solidFill>
          <a:ln w="12700">
            <a:solidFill>
              <a:srgbClr val="1E293B"/>
            </a:solidFill>
            <a:prstDash val="solid"/>
          </a:ln>
        </p:spPr>
      </p:sp>
      <p:sp>
        <p:nvSpPr>
          <p:cNvPr id="8" name="Text 6"/>
          <p:cNvSpPr/>
          <p:nvPr/>
        </p:nvSpPr>
        <p:spPr>
          <a:xfrm>
            <a:off x="4242816" y="4114800"/>
            <a:ext cx="1737360" cy="457200"/>
          </a:xfrm>
          <a:prstGeom prst="rect">
            <a:avLst/>
          </a:prstGeom>
          <a:noFill/>
          <a:ln/>
        </p:spPr>
        <p:txBody>
          <a:bodyPr wrap="square" rtlCol="0" anchor="ctr"/>
          <a:lstStyle/>
          <a:p>
            <a:pPr marL="0" indent="0" algn="ctr">
              <a:buNone/>
            </a:pPr>
            <a:r>
              <a:rPr lang="en-US" sz="1200" b="1" dirty="0">
                <a:solidFill>
                  <a:srgbClr val="E2E8F0"/>
                </a:solidFill>
              </a:rPr>
              <a:t>Express</a:t>
            </a:r>
            <a:endParaRPr lang="en-US" sz="1200" dirty="0"/>
          </a:p>
        </p:txBody>
      </p:sp>
      <p:sp>
        <p:nvSpPr>
          <p:cNvPr id="9" name="Shape 7"/>
          <p:cNvSpPr/>
          <p:nvPr/>
        </p:nvSpPr>
        <p:spPr>
          <a:xfrm>
            <a:off x="6208776" y="4114800"/>
            <a:ext cx="1737360" cy="457200"/>
          </a:xfrm>
          <a:prstGeom prst="roundRect">
            <a:avLst>
              <a:gd name="adj" fmla="val 16000"/>
            </a:avLst>
          </a:prstGeom>
          <a:solidFill>
            <a:srgbClr val="0F172A"/>
          </a:solidFill>
          <a:ln w="12700">
            <a:solidFill>
              <a:srgbClr val="1E293B"/>
            </a:solidFill>
            <a:prstDash val="solid"/>
          </a:ln>
        </p:spPr>
      </p:sp>
      <p:sp>
        <p:nvSpPr>
          <p:cNvPr id="10" name="Text 8"/>
          <p:cNvSpPr/>
          <p:nvPr/>
        </p:nvSpPr>
        <p:spPr>
          <a:xfrm>
            <a:off x="6208776" y="4114800"/>
            <a:ext cx="1737360" cy="457200"/>
          </a:xfrm>
          <a:prstGeom prst="rect">
            <a:avLst/>
          </a:prstGeom>
          <a:noFill/>
          <a:ln/>
        </p:spPr>
        <p:txBody>
          <a:bodyPr wrap="square" rtlCol="0" anchor="ctr"/>
          <a:lstStyle/>
          <a:p>
            <a:pPr marL="0" indent="0" algn="ctr">
              <a:buNone/>
            </a:pPr>
            <a:r>
              <a:rPr lang="en-US" sz="1200" b="1" dirty="0">
                <a:solidFill>
                  <a:srgbClr val="E2E8F0"/>
                </a:solidFill>
              </a:rPr>
              <a:t>React</a:t>
            </a:r>
            <a:endParaRPr lang="en-US" sz="1200" dirty="0"/>
          </a:p>
        </p:txBody>
      </p:sp>
      <p:sp>
        <p:nvSpPr>
          <p:cNvPr id="11" name="Shape 9"/>
          <p:cNvSpPr/>
          <p:nvPr/>
        </p:nvSpPr>
        <p:spPr>
          <a:xfrm>
            <a:off x="8174736" y="4114800"/>
            <a:ext cx="1737360" cy="457200"/>
          </a:xfrm>
          <a:prstGeom prst="roundRect">
            <a:avLst>
              <a:gd name="adj" fmla="val 16000"/>
            </a:avLst>
          </a:prstGeom>
          <a:solidFill>
            <a:srgbClr val="0F172A"/>
          </a:solidFill>
          <a:ln w="12700">
            <a:solidFill>
              <a:srgbClr val="1E293B"/>
            </a:solidFill>
            <a:prstDash val="solid"/>
          </a:ln>
        </p:spPr>
      </p:sp>
      <p:sp>
        <p:nvSpPr>
          <p:cNvPr id="12" name="Text 10"/>
          <p:cNvSpPr/>
          <p:nvPr/>
        </p:nvSpPr>
        <p:spPr>
          <a:xfrm>
            <a:off x="8174736" y="4114800"/>
            <a:ext cx="1737360" cy="457200"/>
          </a:xfrm>
          <a:prstGeom prst="rect">
            <a:avLst/>
          </a:prstGeom>
          <a:noFill/>
          <a:ln/>
        </p:spPr>
        <p:txBody>
          <a:bodyPr wrap="square" rtlCol="0" anchor="ctr"/>
          <a:lstStyle/>
          <a:p>
            <a:pPr marL="0" indent="0" algn="ctr">
              <a:buNone/>
            </a:pPr>
            <a:r>
              <a:rPr lang="en-US" sz="1200" b="1" dirty="0">
                <a:solidFill>
                  <a:srgbClr val="E2E8F0"/>
                </a:solidFill>
              </a:rPr>
              <a:t>Node.js</a:t>
            </a:r>
            <a:endParaRPr lang="en-US" sz="1200" dirty="0"/>
          </a:p>
        </p:txBody>
      </p:sp>
      <p:pic>
        <p:nvPicPr>
          <p:cNvPr id="13" name="Image 0" descr="preencoded.png"/>
          <p:cNvPicPr>
            <a:picLocks noChangeAspect="1"/>
          </p:cNvPicPr>
          <p:nvPr/>
        </p:nvPicPr>
        <p:blipFill>
          <a:blip r:embed="rId3"/>
          <a:stretch>
            <a:fillRect/>
          </a:stretch>
        </p:blipFill>
        <p:spPr>
          <a:xfrm>
            <a:off x="457200" y="4800600"/>
            <a:ext cx="201168" cy="2011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The DSA Preparation Dilemma</a:t>
            </a:r>
            <a:endParaRPr lang="en-US" sz="3000" dirty="0"/>
          </a:p>
        </p:txBody>
      </p:sp>
      <p:sp>
        <p:nvSpPr>
          <p:cNvPr id="4" name="Shape 2"/>
          <p:cNvSpPr/>
          <p:nvPr/>
        </p:nvSpPr>
        <p:spPr>
          <a:xfrm>
            <a:off x="457200" y="1188720"/>
            <a:ext cx="5120640" cy="3566160"/>
          </a:xfrm>
          <a:prstGeom prst="roundRect">
            <a:avLst>
              <a:gd name="adj" fmla="val 2051"/>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5" name="Text 3"/>
          <p:cNvSpPr/>
          <p:nvPr/>
        </p:nvSpPr>
        <p:spPr>
          <a:xfrm>
            <a:off x="731520" y="1371600"/>
            <a:ext cx="4572000" cy="320040"/>
          </a:xfrm>
          <a:prstGeom prst="rect">
            <a:avLst/>
          </a:prstGeom>
          <a:noFill/>
          <a:ln/>
        </p:spPr>
        <p:txBody>
          <a:bodyPr wrap="square" rtlCol="0" anchor="ctr"/>
          <a:lstStyle/>
          <a:p>
            <a:pPr marL="0" indent="0">
              <a:buNone/>
            </a:pPr>
            <a:r>
              <a:rPr lang="en-US" sz="1300" b="1" dirty="0">
                <a:solidFill>
                  <a:srgbClr val="E2E8F0"/>
                </a:solidFill>
              </a:rPr>
              <a:t>Retention vs. Time (No Review)</a:t>
            </a:r>
            <a:endParaRPr lang="en-US" sz="1300" dirty="0"/>
          </a:p>
        </p:txBody>
      </p:sp>
      <p:graphicFrame>
        <p:nvGraphicFramePr>
          <p:cNvPr id="6" name="Chart 0"/>
          <p:cNvGraphicFramePr/>
          <p:nvPr/>
        </p:nvGraphicFramePr>
        <p:xfrm>
          <a:off x="640080" y="1783080"/>
          <a:ext cx="475488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760720" y="1188720"/>
            <a:ext cx="5943600" cy="777240"/>
          </a:xfrm>
          <a:prstGeom prst="roundRect">
            <a:avLst>
              <a:gd name="adj" fmla="val 9412"/>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8" name="Shape 5"/>
          <p:cNvSpPr/>
          <p:nvPr/>
        </p:nvSpPr>
        <p:spPr>
          <a:xfrm>
            <a:off x="5943600" y="1353312"/>
            <a:ext cx="457200" cy="457200"/>
          </a:xfrm>
          <a:prstGeom prst="ellipse">
            <a:avLst/>
          </a:prstGeom>
          <a:solidFill>
            <a:srgbClr val="3F1D2E"/>
          </a:solidFill>
          <a:ln/>
        </p:spPr>
      </p:sp>
      <p:pic>
        <p:nvPicPr>
          <p:cNvPr id="9" name="Image 0" descr="preencoded.png"/>
          <p:cNvPicPr>
            <a:picLocks noChangeAspect="1"/>
          </p:cNvPicPr>
          <p:nvPr/>
        </p:nvPicPr>
        <p:blipFill>
          <a:blip r:embed="rId4"/>
          <a:stretch>
            <a:fillRect/>
          </a:stretch>
        </p:blipFill>
        <p:spPr>
          <a:xfrm>
            <a:off x="6053328" y="1463040"/>
            <a:ext cx="237744" cy="237744"/>
          </a:xfrm>
          <a:prstGeom prst="rect">
            <a:avLst/>
          </a:prstGeom>
        </p:spPr>
      </p:pic>
      <p:sp>
        <p:nvSpPr>
          <p:cNvPr id="10" name="Text 6"/>
          <p:cNvSpPr/>
          <p:nvPr/>
        </p:nvSpPr>
        <p:spPr>
          <a:xfrm>
            <a:off x="6537960" y="1261872"/>
            <a:ext cx="5029200" cy="274320"/>
          </a:xfrm>
          <a:prstGeom prst="rect">
            <a:avLst/>
          </a:prstGeom>
          <a:noFill/>
          <a:ln/>
        </p:spPr>
        <p:txBody>
          <a:bodyPr wrap="square" rtlCol="0" anchor="ctr"/>
          <a:lstStyle/>
          <a:p>
            <a:pPr marL="0" indent="0">
              <a:buNone/>
            </a:pPr>
            <a:r>
              <a:rPr lang="en-US" sz="1300" b="1" dirty="0">
                <a:solidFill>
                  <a:srgbClr val="E2E8F0"/>
                </a:solidFill>
              </a:rPr>
              <a:t>The Forgetting Curve</a:t>
            </a:r>
            <a:endParaRPr lang="en-US" sz="1300" dirty="0"/>
          </a:p>
        </p:txBody>
      </p:sp>
      <p:sp>
        <p:nvSpPr>
          <p:cNvPr id="11" name="Text 7"/>
          <p:cNvSpPr/>
          <p:nvPr/>
        </p:nvSpPr>
        <p:spPr>
          <a:xfrm>
            <a:off x="6537960" y="1536192"/>
            <a:ext cx="5029200" cy="384048"/>
          </a:xfrm>
          <a:prstGeom prst="rect">
            <a:avLst/>
          </a:prstGeom>
          <a:noFill/>
          <a:ln/>
        </p:spPr>
        <p:txBody>
          <a:bodyPr wrap="square" rtlCol="0" anchor="ctr"/>
          <a:lstStyle/>
          <a:p>
            <a:pPr marL="0" indent="0">
              <a:buNone/>
            </a:pPr>
            <a:r>
              <a:rPr lang="en-US" sz="1050" dirty="0">
                <a:solidFill>
                  <a:srgbClr val="94A3B8"/>
                </a:solidFill>
              </a:rPr>
              <a:t>Key intuitions and patterns fade within weeks of solving a problem.</a:t>
            </a:r>
            <a:endParaRPr lang="en-US" sz="1050" dirty="0"/>
          </a:p>
        </p:txBody>
      </p:sp>
      <p:sp>
        <p:nvSpPr>
          <p:cNvPr id="12" name="Shape 8"/>
          <p:cNvSpPr/>
          <p:nvPr/>
        </p:nvSpPr>
        <p:spPr>
          <a:xfrm>
            <a:off x="5760720" y="2084832"/>
            <a:ext cx="5943600" cy="777240"/>
          </a:xfrm>
          <a:prstGeom prst="roundRect">
            <a:avLst>
              <a:gd name="adj" fmla="val 9412"/>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13" name="Shape 9"/>
          <p:cNvSpPr/>
          <p:nvPr/>
        </p:nvSpPr>
        <p:spPr>
          <a:xfrm>
            <a:off x="5943600" y="2249424"/>
            <a:ext cx="457200" cy="457200"/>
          </a:xfrm>
          <a:prstGeom prst="ellipse">
            <a:avLst/>
          </a:prstGeom>
          <a:solidFill>
            <a:srgbClr val="3F1D2E"/>
          </a:solidFill>
          <a:ln/>
        </p:spPr>
      </p:sp>
      <p:pic>
        <p:nvPicPr>
          <p:cNvPr id="14" name="Image 1" descr="preencoded.png"/>
          <p:cNvPicPr>
            <a:picLocks noChangeAspect="1"/>
          </p:cNvPicPr>
          <p:nvPr/>
        </p:nvPicPr>
        <p:blipFill>
          <a:blip r:embed="rId4"/>
          <a:stretch>
            <a:fillRect/>
          </a:stretch>
        </p:blipFill>
        <p:spPr>
          <a:xfrm>
            <a:off x="6053328" y="2359152"/>
            <a:ext cx="237744" cy="237744"/>
          </a:xfrm>
          <a:prstGeom prst="rect">
            <a:avLst/>
          </a:prstGeom>
        </p:spPr>
      </p:pic>
      <p:sp>
        <p:nvSpPr>
          <p:cNvPr id="15" name="Text 10"/>
          <p:cNvSpPr/>
          <p:nvPr/>
        </p:nvSpPr>
        <p:spPr>
          <a:xfrm>
            <a:off x="6537960" y="2157984"/>
            <a:ext cx="5029200" cy="274320"/>
          </a:xfrm>
          <a:prstGeom prst="rect">
            <a:avLst/>
          </a:prstGeom>
          <a:noFill/>
          <a:ln/>
        </p:spPr>
        <p:txBody>
          <a:bodyPr wrap="square" rtlCol="0" anchor="ctr"/>
          <a:lstStyle/>
          <a:p>
            <a:pPr marL="0" indent="0">
              <a:buNone/>
            </a:pPr>
            <a:r>
              <a:rPr lang="en-US" sz="1300" b="1" dirty="0">
                <a:solidFill>
                  <a:srgbClr val="E2E8F0"/>
                </a:solidFill>
              </a:rPr>
              <a:t>Lack of Structure</a:t>
            </a:r>
            <a:endParaRPr lang="en-US" sz="1300" dirty="0"/>
          </a:p>
        </p:txBody>
      </p:sp>
      <p:sp>
        <p:nvSpPr>
          <p:cNvPr id="16" name="Text 11"/>
          <p:cNvSpPr/>
          <p:nvPr/>
        </p:nvSpPr>
        <p:spPr>
          <a:xfrm>
            <a:off x="6537960" y="2432304"/>
            <a:ext cx="5029200" cy="384048"/>
          </a:xfrm>
          <a:prstGeom prst="rect">
            <a:avLst/>
          </a:prstGeom>
          <a:noFill/>
          <a:ln/>
        </p:spPr>
        <p:txBody>
          <a:bodyPr wrap="square" rtlCol="0" anchor="ctr"/>
          <a:lstStyle/>
          <a:p>
            <a:pPr marL="0" indent="0">
              <a:buNone/>
            </a:pPr>
            <a:r>
              <a:rPr lang="en-US" sz="1050" dirty="0">
                <a:solidFill>
                  <a:srgbClr val="94A3B8"/>
                </a:solidFill>
              </a:rPr>
              <a:t>No way to logically group questions (Blind 75, Top 150) with notes.</a:t>
            </a:r>
            <a:endParaRPr lang="en-US" sz="1050" dirty="0"/>
          </a:p>
        </p:txBody>
      </p:sp>
      <p:sp>
        <p:nvSpPr>
          <p:cNvPr id="17" name="Shape 12"/>
          <p:cNvSpPr/>
          <p:nvPr/>
        </p:nvSpPr>
        <p:spPr>
          <a:xfrm>
            <a:off x="5760720" y="2980944"/>
            <a:ext cx="5943600" cy="777240"/>
          </a:xfrm>
          <a:prstGeom prst="roundRect">
            <a:avLst>
              <a:gd name="adj" fmla="val 9412"/>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18" name="Shape 13"/>
          <p:cNvSpPr/>
          <p:nvPr/>
        </p:nvSpPr>
        <p:spPr>
          <a:xfrm>
            <a:off x="5943600" y="3145536"/>
            <a:ext cx="457200" cy="457200"/>
          </a:xfrm>
          <a:prstGeom prst="ellipse">
            <a:avLst/>
          </a:prstGeom>
          <a:solidFill>
            <a:srgbClr val="3F1D2E"/>
          </a:solidFill>
          <a:ln/>
        </p:spPr>
      </p:sp>
      <p:pic>
        <p:nvPicPr>
          <p:cNvPr id="19" name="Image 2" descr="preencoded.png"/>
          <p:cNvPicPr>
            <a:picLocks noChangeAspect="1"/>
          </p:cNvPicPr>
          <p:nvPr/>
        </p:nvPicPr>
        <p:blipFill>
          <a:blip r:embed="rId4"/>
          <a:stretch>
            <a:fillRect/>
          </a:stretch>
        </p:blipFill>
        <p:spPr>
          <a:xfrm>
            <a:off x="6053328" y="3255264"/>
            <a:ext cx="237744" cy="237744"/>
          </a:xfrm>
          <a:prstGeom prst="rect">
            <a:avLst/>
          </a:prstGeom>
        </p:spPr>
      </p:pic>
      <p:sp>
        <p:nvSpPr>
          <p:cNvPr id="20" name="Text 14"/>
          <p:cNvSpPr/>
          <p:nvPr/>
        </p:nvSpPr>
        <p:spPr>
          <a:xfrm>
            <a:off x="6537960" y="3054096"/>
            <a:ext cx="5029200" cy="274320"/>
          </a:xfrm>
          <a:prstGeom prst="rect">
            <a:avLst/>
          </a:prstGeom>
          <a:noFill/>
          <a:ln/>
        </p:spPr>
        <p:txBody>
          <a:bodyPr wrap="square" rtlCol="0" anchor="ctr"/>
          <a:lstStyle/>
          <a:p>
            <a:pPr marL="0" indent="0">
              <a:buNone/>
            </a:pPr>
            <a:r>
              <a:rPr lang="en-US" sz="1300" b="1" dirty="0">
                <a:solidFill>
                  <a:srgbClr val="E2E8F0"/>
                </a:solidFill>
              </a:rPr>
              <a:t>Review Overhead</a:t>
            </a:r>
            <a:endParaRPr lang="en-US" sz="1300" dirty="0"/>
          </a:p>
        </p:txBody>
      </p:sp>
      <p:sp>
        <p:nvSpPr>
          <p:cNvPr id="21" name="Text 15"/>
          <p:cNvSpPr/>
          <p:nvPr/>
        </p:nvSpPr>
        <p:spPr>
          <a:xfrm>
            <a:off x="6537960" y="3328416"/>
            <a:ext cx="5029200" cy="384048"/>
          </a:xfrm>
          <a:prstGeom prst="rect">
            <a:avLst/>
          </a:prstGeom>
          <a:noFill/>
          <a:ln/>
        </p:spPr>
        <p:txBody>
          <a:bodyPr wrap="square" rtlCol="0" anchor="ctr"/>
          <a:lstStyle/>
          <a:p>
            <a:pPr marL="0" indent="0">
              <a:buNone/>
            </a:pPr>
            <a:r>
              <a:rPr lang="en-US" sz="1050" dirty="0">
                <a:solidFill>
                  <a:srgbClr val="94A3B8"/>
                </a:solidFill>
              </a:rPr>
              <a:t>High friction manually scheduling when to revisit old problems.</a:t>
            </a:r>
            <a:endParaRPr lang="en-US" sz="1050" dirty="0"/>
          </a:p>
        </p:txBody>
      </p:sp>
      <p:sp>
        <p:nvSpPr>
          <p:cNvPr id="22" name="Shape 16"/>
          <p:cNvSpPr/>
          <p:nvPr/>
        </p:nvSpPr>
        <p:spPr>
          <a:xfrm>
            <a:off x="5760720" y="3877056"/>
            <a:ext cx="5943600" cy="777240"/>
          </a:xfrm>
          <a:prstGeom prst="roundRect">
            <a:avLst>
              <a:gd name="adj" fmla="val 9412"/>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23" name="Shape 17"/>
          <p:cNvSpPr/>
          <p:nvPr/>
        </p:nvSpPr>
        <p:spPr>
          <a:xfrm>
            <a:off x="5943600" y="4041648"/>
            <a:ext cx="457200" cy="457200"/>
          </a:xfrm>
          <a:prstGeom prst="ellipse">
            <a:avLst/>
          </a:prstGeom>
          <a:solidFill>
            <a:srgbClr val="3F1D2E"/>
          </a:solidFill>
          <a:ln/>
        </p:spPr>
      </p:sp>
      <p:pic>
        <p:nvPicPr>
          <p:cNvPr id="24" name="Image 3" descr="preencoded.png"/>
          <p:cNvPicPr>
            <a:picLocks noChangeAspect="1"/>
          </p:cNvPicPr>
          <p:nvPr/>
        </p:nvPicPr>
        <p:blipFill>
          <a:blip r:embed="rId4"/>
          <a:stretch>
            <a:fillRect/>
          </a:stretch>
        </p:blipFill>
        <p:spPr>
          <a:xfrm>
            <a:off x="6053328" y="4151376"/>
            <a:ext cx="237744" cy="237744"/>
          </a:xfrm>
          <a:prstGeom prst="rect">
            <a:avLst/>
          </a:prstGeom>
        </p:spPr>
      </p:pic>
      <p:sp>
        <p:nvSpPr>
          <p:cNvPr id="25" name="Text 18"/>
          <p:cNvSpPr/>
          <p:nvPr/>
        </p:nvSpPr>
        <p:spPr>
          <a:xfrm>
            <a:off x="6537960" y="3950208"/>
            <a:ext cx="5029200" cy="274320"/>
          </a:xfrm>
          <a:prstGeom prst="rect">
            <a:avLst/>
          </a:prstGeom>
          <a:noFill/>
          <a:ln/>
        </p:spPr>
        <p:txBody>
          <a:bodyPr wrap="square" rtlCol="0" anchor="ctr"/>
          <a:lstStyle/>
          <a:p>
            <a:pPr marL="0" indent="0">
              <a:buNone/>
            </a:pPr>
            <a:r>
              <a:rPr lang="en-US" sz="1300" b="1" dirty="0">
                <a:solidFill>
                  <a:srgbClr val="E2E8F0"/>
                </a:solidFill>
              </a:rPr>
              <a:t>Consistency Deficit</a:t>
            </a:r>
            <a:endParaRPr lang="en-US" sz="1300" dirty="0"/>
          </a:p>
        </p:txBody>
      </p:sp>
      <p:sp>
        <p:nvSpPr>
          <p:cNvPr id="26" name="Text 19"/>
          <p:cNvSpPr/>
          <p:nvPr/>
        </p:nvSpPr>
        <p:spPr>
          <a:xfrm>
            <a:off x="6537960" y="4224528"/>
            <a:ext cx="5029200" cy="384048"/>
          </a:xfrm>
          <a:prstGeom prst="rect">
            <a:avLst/>
          </a:prstGeom>
          <a:noFill/>
          <a:ln/>
        </p:spPr>
        <p:txBody>
          <a:bodyPr wrap="square" rtlCol="0" anchor="ctr"/>
          <a:lstStyle/>
          <a:p>
            <a:pPr marL="0" indent="0">
              <a:buNone/>
            </a:pPr>
            <a:r>
              <a:rPr lang="en-US" sz="1050" dirty="0">
                <a:solidFill>
                  <a:srgbClr val="94A3B8"/>
                </a:solidFill>
              </a:rPr>
              <a:t>No visual accountability to track daily solving activity.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OUR APPROACH</a:t>
            </a:r>
            <a:endParaRPr lang="en-US" sz="1200" dirty="0"/>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System Overview &amp; Solution Architecture</a:t>
            </a:r>
            <a:endParaRPr lang="en-US" sz="3000" dirty="0"/>
          </a:p>
        </p:txBody>
      </p:sp>
      <p:sp>
        <p:nvSpPr>
          <p:cNvPr id="4" name="Shape 2"/>
          <p:cNvSpPr/>
          <p:nvPr/>
        </p:nvSpPr>
        <p:spPr>
          <a:xfrm>
            <a:off x="457200" y="1234440"/>
            <a:ext cx="3520440" cy="2743200"/>
          </a:xfrm>
          <a:prstGeom prst="roundRect">
            <a:avLst>
              <a:gd name="adj" fmla="val 2667"/>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5" name="Shape 3"/>
          <p:cNvSpPr/>
          <p:nvPr/>
        </p:nvSpPr>
        <p:spPr>
          <a:xfrm>
            <a:off x="731520" y="1508760"/>
            <a:ext cx="640080" cy="640080"/>
          </a:xfrm>
          <a:prstGeom prst="ellipse">
            <a:avLst/>
          </a:prstGeom>
          <a:solidFill>
            <a:srgbClr val="132235"/>
          </a:solidFill>
          <a:ln/>
        </p:spPr>
      </p:sp>
      <p:pic>
        <p:nvPicPr>
          <p:cNvPr id="6" name="Image 0" descr="preencoded.png"/>
          <p:cNvPicPr>
            <a:picLocks noChangeAspect="1"/>
          </p:cNvPicPr>
          <p:nvPr/>
        </p:nvPicPr>
        <p:blipFill>
          <a:blip r:embed="rId3"/>
          <a:stretch>
            <a:fillRect/>
          </a:stretch>
        </p:blipFill>
        <p:spPr>
          <a:xfrm>
            <a:off x="885139" y="1662379"/>
            <a:ext cx="332842" cy="332842"/>
          </a:xfrm>
          <a:prstGeom prst="rect">
            <a:avLst/>
          </a:prstGeom>
        </p:spPr>
      </p:pic>
      <p:sp>
        <p:nvSpPr>
          <p:cNvPr id="7" name="Text 4"/>
          <p:cNvSpPr/>
          <p:nvPr/>
        </p:nvSpPr>
        <p:spPr>
          <a:xfrm>
            <a:off x="731520" y="2286000"/>
            <a:ext cx="2971800" cy="548640"/>
          </a:xfrm>
          <a:prstGeom prst="rect">
            <a:avLst/>
          </a:prstGeom>
          <a:noFill/>
          <a:ln/>
        </p:spPr>
        <p:txBody>
          <a:bodyPr wrap="square" rtlCol="0" anchor="ctr"/>
          <a:lstStyle/>
          <a:p>
            <a:pPr marL="0" indent="0">
              <a:buNone/>
            </a:pPr>
            <a:r>
              <a:rPr lang="en-US" sz="1500" b="1" dirty="0">
                <a:solidFill>
                  <a:srgbClr val="E2E8F0"/>
                </a:solidFill>
              </a:rPr>
              <a:t>Smart Spaced Repetition</a:t>
            </a:r>
            <a:endParaRPr lang="en-US" sz="1500" dirty="0"/>
          </a:p>
        </p:txBody>
      </p:sp>
      <p:sp>
        <p:nvSpPr>
          <p:cNvPr id="8" name="Text 5"/>
          <p:cNvSpPr/>
          <p:nvPr/>
        </p:nvSpPr>
        <p:spPr>
          <a:xfrm>
            <a:off x="731520" y="2788920"/>
            <a:ext cx="2971800" cy="1051560"/>
          </a:xfrm>
          <a:prstGeom prst="rect">
            <a:avLst/>
          </a:prstGeom>
          <a:noFill/>
          <a:ln/>
        </p:spPr>
        <p:txBody>
          <a:bodyPr wrap="square" rtlCol="0" anchor="ctr"/>
          <a:lstStyle/>
          <a:p>
            <a:pPr marL="0" indent="0">
              <a:buNone/>
            </a:pPr>
            <a:r>
              <a:rPr lang="en-US" sz="1100" dirty="0">
                <a:solidFill>
                  <a:srgbClr val="94A3B8"/>
                </a:solidFill>
              </a:rPr>
              <a:t>Solved questions are queued for review at structured intervals (1, 2, 3, 7, 14, 30, 60 days).</a:t>
            </a:r>
            <a:endParaRPr lang="en-US" sz="1100" dirty="0"/>
          </a:p>
        </p:txBody>
      </p:sp>
      <p:sp>
        <p:nvSpPr>
          <p:cNvPr id="9" name="Shape 6"/>
          <p:cNvSpPr/>
          <p:nvPr/>
        </p:nvSpPr>
        <p:spPr>
          <a:xfrm>
            <a:off x="4251960" y="1234440"/>
            <a:ext cx="3520440" cy="2743200"/>
          </a:xfrm>
          <a:prstGeom prst="roundRect">
            <a:avLst>
              <a:gd name="adj" fmla="val 2667"/>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10" name="Shape 7"/>
          <p:cNvSpPr/>
          <p:nvPr/>
        </p:nvSpPr>
        <p:spPr>
          <a:xfrm>
            <a:off x="4526280" y="1508760"/>
            <a:ext cx="640080" cy="640080"/>
          </a:xfrm>
          <a:prstGeom prst="ellipse">
            <a:avLst/>
          </a:prstGeom>
          <a:solidFill>
            <a:srgbClr val="132235"/>
          </a:solidFill>
          <a:ln/>
        </p:spPr>
      </p:sp>
      <p:pic>
        <p:nvPicPr>
          <p:cNvPr id="11" name="Image 1" descr="preencoded.png"/>
          <p:cNvPicPr>
            <a:picLocks noChangeAspect="1"/>
          </p:cNvPicPr>
          <p:nvPr/>
        </p:nvPicPr>
        <p:blipFill>
          <a:blip r:embed="rId4"/>
          <a:stretch>
            <a:fillRect/>
          </a:stretch>
        </p:blipFill>
        <p:spPr>
          <a:xfrm>
            <a:off x="4679899" y="1662379"/>
            <a:ext cx="332842" cy="332842"/>
          </a:xfrm>
          <a:prstGeom prst="rect">
            <a:avLst/>
          </a:prstGeom>
        </p:spPr>
      </p:pic>
      <p:sp>
        <p:nvSpPr>
          <p:cNvPr id="12" name="Text 8"/>
          <p:cNvSpPr/>
          <p:nvPr/>
        </p:nvSpPr>
        <p:spPr>
          <a:xfrm>
            <a:off x="4526280" y="2286000"/>
            <a:ext cx="2971800" cy="548640"/>
          </a:xfrm>
          <a:prstGeom prst="rect">
            <a:avLst/>
          </a:prstGeom>
          <a:noFill/>
          <a:ln/>
        </p:spPr>
        <p:txBody>
          <a:bodyPr wrap="square" rtlCol="0" anchor="ctr"/>
          <a:lstStyle/>
          <a:p>
            <a:pPr marL="0" indent="0">
              <a:buNone/>
            </a:pPr>
            <a:r>
              <a:rPr lang="en-US" sz="1500" b="1" dirty="0">
                <a:solidFill>
                  <a:srgbClr val="E2E8F0"/>
                </a:solidFill>
              </a:rPr>
              <a:t>Interactive Analytics</a:t>
            </a:r>
            <a:endParaRPr lang="en-US" sz="1500" dirty="0"/>
          </a:p>
        </p:txBody>
      </p:sp>
      <p:sp>
        <p:nvSpPr>
          <p:cNvPr id="13" name="Text 9"/>
          <p:cNvSpPr/>
          <p:nvPr/>
        </p:nvSpPr>
        <p:spPr>
          <a:xfrm>
            <a:off x="4526280" y="2788920"/>
            <a:ext cx="2971800" cy="1051560"/>
          </a:xfrm>
          <a:prstGeom prst="rect">
            <a:avLst/>
          </a:prstGeom>
          <a:noFill/>
          <a:ln/>
        </p:spPr>
        <p:txBody>
          <a:bodyPr wrap="square" rtlCol="0" anchor="ctr"/>
          <a:lstStyle/>
          <a:p>
            <a:pPr marL="0" indent="0">
              <a:buNone/>
            </a:pPr>
            <a:r>
              <a:rPr lang="en-US" sz="1100" dirty="0">
                <a:solidFill>
                  <a:srgbClr val="94A3B8"/>
                </a:solidFill>
              </a:rPr>
              <a:t>GitHub-style activity calendar and difficulty-based metrics (Easy/Medium/Hard).</a:t>
            </a:r>
            <a:endParaRPr lang="en-US" sz="1100" dirty="0"/>
          </a:p>
        </p:txBody>
      </p:sp>
      <p:sp>
        <p:nvSpPr>
          <p:cNvPr id="14" name="Shape 10"/>
          <p:cNvSpPr/>
          <p:nvPr/>
        </p:nvSpPr>
        <p:spPr>
          <a:xfrm>
            <a:off x="8046720" y="1234440"/>
            <a:ext cx="3520440" cy="2743200"/>
          </a:xfrm>
          <a:prstGeom prst="roundRect">
            <a:avLst>
              <a:gd name="adj" fmla="val 2667"/>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15" name="Shape 11"/>
          <p:cNvSpPr/>
          <p:nvPr/>
        </p:nvSpPr>
        <p:spPr>
          <a:xfrm>
            <a:off x="8321040" y="1508760"/>
            <a:ext cx="640080" cy="640080"/>
          </a:xfrm>
          <a:prstGeom prst="ellipse">
            <a:avLst/>
          </a:prstGeom>
          <a:solidFill>
            <a:srgbClr val="132235"/>
          </a:solidFill>
          <a:ln/>
        </p:spPr>
      </p:sp>
      <p:pic>
        <p:nvPicPr>
          <p:cNvPr id="16" name="Image 2" descr="preencoded.png"/>
          <p:cNvPicPr>
            <a:picLocks noChangeAspect="1"/>
          </p:cNvPicPr>
          <p:nvPr/>
        </p:nvPicPr>
        <p:blipFill>
          <a:blip r:embed="rId5"/>
          <a:stretch>
            <a:fillRect/>
          </a:stretch>
        </p:blipFill>
        <p:spPr>
          <a:xfrm>
            <a:off x="8474659" y="1662379"/>
            <a:ext cx="332842" cy="332842"/>
          </a:xfrm>
          <a:prstGeom prst="rect">
            <a:avLst/>
          </a:prstGeom>
        </p:spPr>
      </p:pic>
      <p:sp>
        <p:nvSpPr>
          <p:cNvPr id="17" name="Text 12"/>
          <p:cNvSpPr/>
          <p:nvPr/>
        </p:nvSpPr>
        <p:spPr>
          <a:xfrm>
            <a:off x="8321040" y="2286000"/>
            <a:ext cx="2971800" cy="548640"/>
          </a:xfrm>
          <a:prstGeom prst="rect">
            <a:avLst/>
          </a:prstGeom>
          <a:noFill/>
          <a:ln/>
        </p:spPr>
        <p:txBody>
          <a:bodyPr wrap="square" rtlCol="0" anchor="ctr"/>
          <a:lstStyle/>
          <a:p>
            <a:pPr marL="0" indent="0">
              <a:buNone/>
            </a:pPr>
            <a:r>
              <a:rPr lang="en-US" sz="1500" b="1" dirty="0">
                <a:solidFill>
                  <a:srgbClr val="E2E8F0"/>
                </a:solidFill>
              </a:rPr>
              <a:t>Curated Collections &amp; Notes</a:t>
            </a:r>
            <a:endParaRPr lang="en-US" sz="1500" dirty="0"/>
          </a:p>
        </p:txBody>
      </p:sp>
      <p:sp>
        <p:nvSpPr>
          <p:cNvPr id="18" name="Text 13"/>
          <p:cNvSpPr/>
          <p:nvPr/>
        </p:nvSpPr>
        <p:spPr>
          <a:xfrm>
            <a:off x="8321040" y="2788920"/>
            <a:ext cx="2971800" cy="1051560"/>
          </a:xfrm>
          <a:prstGeom prst="rect">
            <a:avLst/>
          </a:prstGeom>
          <a:noFill/>
          <a:ln/>
        </p:spPr>
        <p:txBody>
          <a:bodyPr wrap="square" rtlCol="0" anchor="ctr"/>
          <a:lstStyle/>
          <a:p>
            <a:pPr marL="0" indent="0">
              <a:buNone/>
            </a:pPr>
            <a:r>
              <a:rPr lang="en-US" sz="1100" dirty="0">
                <a:solidFill>
                  <a:srgbClr val="94A3B8"/>
                </a:solidFill>
              </a:rPr>
              <a:t>Rich markdown editor for logging patterns, complexities, and code directly in-app.</a:t>
            </a:r>
            <a:endParaRPr lang="en-US" sz="1100" dirty="0"/>
          </a:p>
        </p:txBody>
      </p:sp>
      <p:sp>
        <p:nvSpPr>
          <p:cNvPr id="19" name="Shape 14"/>
          <p:cNvSpPr/>
          <p:nvPr/>
        </p:nvSpPr>
        <p:spPr>
          <a:xfrm>
            <a:off x="457200" y="4160520"/>
            <a:ext cx="11274552" cy="594360"/>
          </a:xfrm>
          <a:prstGeom prst="roundRect">
            <a:avLst>
              <a:gd name="adj" fmla="val 12308"/>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20" name="Text 15"/>
          <p:cNvSpPr/>
          <p:nvPr/>
        </p:nvSpPr>
        <p:spPr>
          <a:xfrm>
            <a:off x="731520" y="4160520"/>
            <a:ext cx="10698480" cy="594360"/>
          </a:xfrm>
          <a:prstGeom prst="rect">
            <a:avLst/>
          </a:prstGeom>
          <a:noFill/>
          <a:ln/>
        </p:spPr>
        <p:txBody>
          <a:bodyPr wrap="square" rtlCol="0" anchor="ctr"/>
          <a:lstStyle/>
          <a:p>
            <a:pPr marL="0" indent="0">
              <a:buNone/>
            </a:pPr>
            <a:r>
              <a:rPr lang="en-US" sz="1200" i="1" dirty="0">
                <a:solidFill>
                  <a:srgbClr val="22D3EE"/>
                </a:solidFill>
              </a:rPr>
              <a:t>Hybrid Access: Guest Mode with instant local usage, seamlessly synced to MongoDB on signup.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CORE ENGINE</a:t>
            </a:r>
            <a:endParaRPr lang="en-US" sz="1200" dirty="0"/>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Behind the Spaced Repetition Engine</a:t>
            </a:r>
            <a:endParaRPr lang="en-US" sz="3000" dirty="0"/>
          </a:p>
        </p:txBody>
      </p:sp>
      <p:sp>
        <p:nvSpPr>
          <p:cNvPr id="4" name="Shape 2"/>
          <p:cNvSpPr/>
          <p:nvPr/>
        </p:nvSpPr>
        <p:spPr>
          <a:xfrm>
            <a:off x="457200" y="1417320"/>
            <a:ext cx="2084832" cy="868680"/>
          </a:xfrm>
          <a:prstGeom prst="roundRect">
            <a:avLst>
              <a:gd name="adj" fmla="val 8421"/>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5" name="Text 3"/>
          <p:cNvSpPr/>
          <p:nvPr/>
        </p:nvSpPr>
        <p:spPr>
          <a:xfrm>
            <a:off x="530352" y="1417320"/>
            <a:ext cx="1938528" cy="868680"/>
          </a:xfrm>
          <a:prstGeom prst="rect">
            <a:avLst/>
          </a:prstGeom>
          <a:noFill/>
          <a:ln/>
        </p:spPr>
        <p:txBody>
          <a:bodyPr wrap="square" rtlCol="0" anchor="ctr"/>
          <a:lstStyle/>
          <a:p>
            <a:pPr marL="0" indent="0" algn="ctr">
              <a:buNone/>
            </a:pPr>
            <a:r>
              <a:rPr lang="en-US" sz="1100" dirty="0">
                <a:solidFill>
                  <a:srgbClr val="E2E8F0"/>
                </a:solidFill>
              </a:rPr>
              <a:t>Mark Done Clicked</a:t>
            </a:r>
            <a:endParaRPr lang="en-US" sz="1100" dirty="0"/>
          </a:p>
        </p:txBody>
      </p:sp>
      <p:sp>
        <p:nvSpPr>
          <p:cNvPr id="6" name="Text 4"/>
          <p:cNvSpPr/>
          <p:nvPr/>
        </p:nvSpPr>
        <p:spPr>
          <a:xfrm>
            <a:off x="2523744" y="1417320"/>
            <a:ext cx="365760" cy="868680"/>
          </a:xfrm>
          <a:prstGeom prst="rect">
            <a:avLst/>
          </a:prstGeom>
          <a:noFill/>
          <a:ln/>
        </p:spPr>
        <p:txBody>
          <a:bodyPr wrap="square" rtlCol="0" anchor="ctr"/>
          <a:lstStyle/>
          <a:p>
            <a:pPr marL="0" indent="0" algn="ctr">
              <a:buNone/>
            </a:pPr>
            <a:r>
              <a:rPr lang="en-US" sz="1800" dirty="0">
                <a:solidFill>
                  <a:srgbClr val="22D3EE"/>
                </a:solidFill>
              </a:rPr>
              <a:t>→</a:t>
            </a:r>
            <a:endParaRPr lang="en-US" sz="1800" dirty="0"/>
          </a:p>
        </p:txBody>
      </p:sp>
      <p:sp>
        <p:nvSpPr>
          <p:cNvPr id="7" name="Shape 5"/>
          <p:cNvSpPr/>
          <p:nvPr/>
        </p:nvSpPr>
        <p:spPr>
          <a:xfrm>
            <a:off x="2706624" y="1417320"/>
            <a:ext cx="2084832" cy="868680"/>
          </a:xfrm>
          <a:prstGeom prst="roundRect">
            <a:avLst>
              <a:gd name="adj" fmla="val 8421"/>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8" name="Text 6"/>
          <p:cNvSpPr/>
          <p:nvPr/>
        </p:nvSpPr>
        <p:spPr>
          <a:xfrm>
            <a:off x="2779776" y="1417320"/>
            <a:ext cx="1938528" cy="868680"/>
          </a:xfrm>
          <a:prstGeom prst="rect">
            <a:avLst/>
          </a:prstGeom>
          <a:noFill/>
          <a:ln/>
        </p:spPr>
        <p:txBody>
          <a:bodyPr wrap="square" rtlCol="0" anchor="ctr"/>
          <a:lstStyle/>
          <a:p>
            <a:pPr marL="0" indent="0" algn="ctr">
              <a:buNone/>
            </a:pPr>
            <a:r>
              <a:rPr lang="en-US" sz="1100" dirty="0">
                <a:solidFill>
                  <a:srgbClr val="E2E8F0"/>
                </a:solidFill>
              </a:rPr>
              <a:t>revCount++</a:t>
            </a:r>
            <a:endParaRPr lang="en-US" sz="1100" dirty="0"/>
          </a:p>
        </p:txBody>
      </p:sp>
      <p:sp>
        <p:nvSpPr>
          <p:cNvPr id="9" name="Text 7"/>
          <p:cNvSpPr/>
          <p:nvPr/>
        </p:nvSpPr>
        <p:spPr>
          <a:xfrm>
            <a:off x="4773168" y="1417320"/>
            <a:ext cx="365760" cy="868680"/>
          </a:xfrm>
          <a:prstGeom prst="rect">
            <a:avLst/>
          </a:prstGeom>
          <a:noFill/>
          <a:ln/>
        </p:spPr>
        <p:txBody>
          <a:bodyPr wrap="square" rtlCol="0" anchor="ctr"/>
          <a:lstStyle/>
          <a:p>
            <a:pPr marL="0" indent="0" algn="ctr">
              <a:buNone/>
            </a:pPr>
            <a:r>
              <a:rPr lang="en-US" sz="1800" dirty="0">
                <a:solidFill>
                  <a:srgbClr val="22D3EE"/>
                </a:solidFill>
              </a:rPr>
              <a:t>→</a:t>
            </a:r>
            <a:endParaRPr lang="en-US" sz="1800" dirty="0"/>
          </a:p>
        </p:txBody>
      </p:sp>
      <p:sp>
        <p:nvSpPr>
          <p:cNvPr id="10" name="Shape 8"/>
          <p:cNvSpPr/>
          <p:nvPr/>
        </p:nvSpPr>
        <p:spPr>
          <a:xfrm>
            <a:off x="4956048" y="1417320"/>
            <a:ext cx="2084832" cy="868680"/>
          </a:xfrm>
          <a:prstGeom prst="roundRect">
            <a:avLst>
              <a:gd name="adj" fmla="val 8421"/>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11" name="Text 9"/>
          <p:cNvSpPr/>
          <p:nvPr/>
        </p:nvSpPr>
        <p:spPr>
          <a:xfrm>
            <a:off x="5029200" y="1417320"/>
            <a:ext cx="1938528" cy="868680"/>
          </a:xfrm>
          <a:prstGeom prst="rect">
            <a:avLst/>
          </a:prstGeom>
          <a:noFill/>
          <a:ln/>
        </p:spPr>
        <p:txBody>
          <a:bodyPr wrap="square" rtlCol="0" anchor="ctr"/>
          <a:lstStyle/>
          <a:p>
            <a:pPr marL="0" indent="0" algn="ctr">
              <a:buNone/>
            </a:pPr>
            <a:r>
              <a:rPr lang="en-US" sz="1100" dirty="0">
                <a:solidFill>
                  <a:srgbClr val="E2E8F0"/>
                </a:solidFill>
              </a:rPr>
              <a:t>Interval Modal Opens</a:t>
            </a:r>
            <a:endParaRPr lang="en-US" sz="1100" dirty="0"/>
          </a:p>
        </p:txBody>
      </p:sp>
      <p:sp>
        <p:nvSpPr>
          <p:cNvPr id="12" name="Text 10"/>
          <p:cNvSpPr/>
          <p:nvPr/>
        </p:nvSpPr>
        <p:spPr>
          <a:xfrm>
            <a:off x="7022592" y="1417320"/>
            <a:ext cx="365760" cy="868680"/>
          </a:xfrm>
          <a:prstGeom prst="rect">
            <a:avLst/>
          </a:prstGeom>
          <a:noFill/>
          <a:ln/>
        </p:spPr>
        <p:txBody>
          <a:bodyPr wrap="square" rtlCol="0" anchor="ctr"/>
          <a:lstStyle/>
          <a:p>
            <a:pPr marL="0" indent="0" algn="ctr">
              <a:buNone/>
            </a:pPr>
            <a:r>
              <a:rPr lang="en-US" sz="1800" dirty="0">
                <a:solidFill>
                  <a:srgbClr val="22D3EE"/>
                </a:solidFill>
              </a:rPr>
              <a:t>→</a:t>
            </a:r>
            <a:endParaRPr lang="en-US" sz="1800" dirty="0"/>
          </a:p>
        </p:txBody>
      </p:sp>
      <p:sp>
        <p:nvSpPr>
          <p:cNvPr id="13" name="Shape 11"/>
          <p:cNvSpPr/>
          <p:nvPr/>
        </p:nvSpPr>
        <p:spPr>
          <a:xfrm>
            <a:off x="7205472" y="1417320"/>
            <a:ext cx="2084832" cy="868680"/>
          </a:xfrm>
          <a:prstGeom prst="roundRect">
            <a:avLst>
              <a:gd name="adj" fmla="val 8421"/>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14" name="Text 12"/>
          <p:cNvSpPr/>
          <p:nvPr/>
        </p:nvSpPr>
        <p:spPr>
          <a:xfrm>
            <a:off x="7278624" y="1417320"/>
            <a:ext cx="1938528" cy="868680"/>
          </a:xfrm>
          <a:prstGeom prst="rect">
            <a:avLst/>
          </a:prstGeom>
          <a:noFill/>
          <a:ln/>
        </p:spPr>
        <p:txBody>
          <a:bodyPr wrap="square" rtlCol="0" anchor="ctr"/>
          <a:lstStyle/>
          <a:p>
            <a:pPr marL="0" indent="0" algn="ctr">
              <a:buNone/>
            </a:pPr>
            <a:r>
              <a:rPr lang="en-US" sz="1100" dirty="0">
                <a:solidFill>
                  <a:srgbClr val="E2E8F0"/>
                </a:solidFill>
              </a:rPr>
              <a:t>User Picks Interval</a:t>
            </a:r>
            <a:endParaRPr lang="en-US" sz="1100" dirty="0"/>
          </a:p>
        </p:txBody>
      </p:sp>
      <p:sp>
        <p:nvSpPr>
          <p:cNvPr id="15" name="Text 13"/>
          <p:cNvSpPr/>
          <p:nvPr/>
        </p:nvSpPr>
        <p:spPr>
          <a:xfrm>
            <a:off x="9272016" y="1417320"/>
            <a:ext cx="365760" cy="868680"/>
          </a:xfrm>
          <a:prstGeom prst="rect">
            <a:avLst/>
          </a:prstGeom>
          <a:noFill/>
          <a:ln/>
        </p:spPr>
        <p:txBody>
          <a:bodyPr wrap="square" rtlCol="0" anchor="ctr"/>
          <a:lstStyle/>
          <a:p>
            <a:pPr marL="0" indent="0" algn="ctr">
              <a:buNone/>
            </a:pPr>
            <a:r>
              <a:rPr lang="en-US" sz="1800" dirty="0">
                <a:solidFill>
                  <a:srgbClr val="22D3EE"/>
                </a:solidFill>
              </a:rPr>
              <a:t>→</a:t>
            </a:r>
            <a:endParaRPr lang="en-US" sz="1800" dirty="0"/>
          </a:p>
        </p:txBody>
      </p:sp>
      <p:sp>
        <p:nvSpPr>
          <p:cNvPr id="16" name="Shape 14"/>
          <p:cNvSpPr/>
          <p:nvPr/>
        </p:nvSpPr>
        <p:spPr>
          <a:xfrm>
            <a:off x="9454896" y="1417320"/>
            <a:ext cx="2084832" cy="868680"/>
          </a:xfrm>
          <a:prstGeom prst="roundRect">
            <a:avLst>
              <a:gd name="adj" fmla="val 8421"/>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17" name="Text 15"/>
          <p:cNvSpPr/>
          <p:nvPr/>
        </p:nvSpPr>
        <p:spPr>
          <a:xfrm>
            <a:off x="9528048" y="1417320"/>
            <a:ext cx="1938528" cy="868680"/>
          </a:xfrm>
          <a:prstGeom prst="rect">
            <a:avLst/>
          </a:prstGeom>
          <a:noFill/>
          <a:ln/>
        </p:spPr>
        <p:txBody>
          <a:bodyPr wrap="square" rtlCol="0" anchor="ctr"/>
          <a:lstStyle/>
          <a:p>
            <a:pPr marL="0" indent="0" algn="ctr">
              <a:buNone/>
            </a:pPr>
            <a:r>
              <a:rPr lang="en-US" sz="1100" b="1" dirty="0">
                <a:solidFill>
                  <a:srgbClr val="E2E8F0"/>
                </a:solidFill>
              </a:rPr>
              <a:t>nextRev Saved</a:t>
            </a:r>
            <a:endParaRPr lang="en-US" sz="1100" dirty="0"/>
          </a:p>
        </p:txBody>
      </p:sp>
      <p:sp>
        <p:nvSpPr>
          <p:cNvPr id="18" name="Shape 16"/>
          <p:cNvSpPr/>
          <p:nvPr/>
        </p:nvSpPr>
        <p:spPr>
          <a:xfrm>
            <a:off x="457200" y="2606040"/>
            <a:ext cx="3520440" cy="1417320"/>
          </a:xfrm>
          <a:prstGeom prst="roundRect">
            <a:avLst>
              <a:gd name="adj" fmla="val 5161"/>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19" name="Shape 17"/>
          <p:cNvSpPr/>
          <p:nvPr/>
        </p:nvSpPr>
        <p:spPr>
          <a:xfrm>
            <a:off x="685800" y="2788920"/>
            <a:ext cx="502920" cy="502920"/>
          </a:xfrm>
          <a:prstGeom prst="ellipse">
            <a:avLst/>
          </a:prstGeom>
          <a:solidFill>
            <a:srgbClr val="3F1D2E"/>
          </a:solidFill>
          <a:ln/>
        </p:spPr>
      </p:sp>
      <p:pic>
        <p:nvPicPr>
          <p:cNvPr id="20" name="Image 0" descr="preencoded.png"/>
          <p:cNvPicPr>
            <a:picLocks noChangeAspect="1"/>
          </p:cNvPicPr>
          <p:nvPr/>
        </p:nvPicPr>
        <p:blipFill>
          <a:blip r:embed="rId3"/>
          <a:stretch>
            <a:fillRect/>
          </a:stretch>
        </p:blipFill>
        <p:spPr>
          <a:xfrm>
            <a:off x="806501" y="2909621"/>
            <a:ext cx="261518" cy="261518"/>
          </a:xfrm>
          <a:prstGeom prst="rect">
            <a:avLst/>
          </a:prstGeom>
        </p:spPr>
      </p:pic>
      <p:sp>
        <p:nvSpPr>
          <p:cNvPr id="21" name="Text 18"/>
          <p:cNvSpPr/>
          <p:nvPr/>
        </p:nvSpPr>
        <p:spPr>
          <a:xfrm>
            <a:off x="1325880" y="2743200"/>
            <a:ext cx="2468880" cy="320040"/>
          </a:xfrm>
          <a:prstGeom prst="rect">
            <a:avLst/>
          </a:prstGeom>
          <a:noFill/>
          <a:ln/>
        </p:spPr>
        <p:txBody>
          <a:bodyPr wrap="square" rtlCol="0" anchor="ctr"/>
          <a:lstStyle/>
          <a:p>
            <a:pPr marL="0" indent="0">
              <a:buNone/>
            </a:pPr>
            <a:r>
              <a:rPr lang="en-US" sz="1500" b="1" dirty="0">
                <a:solidFill>
                  <a:srgbClr val="FB7185"/>
                </a:solidFill>
              </a:rPr>
              <a:t>Overdue</a:t>
            </a:r>
            <a:endParaRPr lang="en-US" sz="1500" dirty="0"/>
          </a:p>
        </p:txBody>
      </p:sp>
      <p:sp>
        <p:nvSpPr>
          <p:cNvPr id="22" name="Text 19"/>
          <p:cNvSpPr/>
          <p:nvPr/>
        </p:nvSpPr>
        <p:spPr>
          <a:xfrm>
            <a:off x="1325880" y="3063240"/>
            <a:ext cx="2468880" cy="320040"/>
          </a:xfrm>
          <a:prstGeom prst="rect">
            <a:avLst/>
          </a:prstGeom>
          <a:noFill/>
          <a:ln/>
        </p:spPr>
        <p:txBody>
          <a:bodyPr wrap="square" rtlCol="0" anchor="ctr"/>
          <a:lstStyle/>
          <a:p>
            <a:pPr marL="0" indent="0">
              <a:buNone/>
            </a:pPr>
            <a:r>
              <a:rPr lang="en-US" sz="1100" dirty="0">
                <a:solidFill>
                  <a:srgbClr val="94A3B8"/>
                </a:solidFill>
              </a:rPr>
              <a:t>Past due review dates</a:t>
            </a:r>
            <a:endParaRPr lang="en-US" sz="1100" dirty="0"/>
          </a:p>
        </p:txBody>
      </p:sp>
      <p:sp>
        <p:nvSpPr>
          <p:cNvPr id="23" name="Shape 20"/>
          <p:cNvSpPr/>
          <p:nvPr/>
        </p:nvSpPr>
        <p:spPr>
          <a:xfrm>
            <a:off x="4251960" y="2606040"/>
            <a:ext cx="3520440" cy="1417320"/>
          </a:xfrm>
          <a:prstGeom prst="roundRect">
            <a:avLst>
              <a:gd name="adj" fmla="val 5161"/>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24" name="Shape 21"/>
          <p:cNvSpPr/>
          <p:nvPr/>
        </p:nvSpPr>
        <p:spPr>
          <a:xfrm>
            <a:off x="4480560" y="2788920"/>
            <a:ext cx="502920" cy="502920"/>
          </a:xfrm>
          <a:prstGeom prst="ellipse">
            <a:avLst/>
          </a:prstGeom>
          <a:solidFill>
            <a:srgbClr val="132235"/>
          </a:solidFill>
          <a:ln/>
        </p:spPr>
      </p:sp>
      <p:pic>
        <p:nvPicPr>
          <p:cNvPr id="25" name="Image 1" descr="preencoded.png"/>
          <p:cNvPicPr>
            <a:picLocks noChangeAspect="1"/>
          </p:cNvPicPr>
          <p:nvPr/>
        </p:nvPicPr>
        <p:blipFill>
          <a:blip r:embed="rId4"/>
          <a:stretch>
            <a:fillRect/>
          </a:stretch>
        </p:blipFill>
        <p:spPr>
          <a:xfrm>
            <a:off x="4601261" y="2909621"/>
            <a:ext cx="261518" cy="261518"/>
          </a:xfrm>
          <a:prstGeom prst="rect">
            <a:avLst/>
          </a:prstGeom>
        </p:spPr>
      </p:pic>
      <p:sp>
        <p:nvSpPr>
          <p:cNvPr id="26" name="Text 22"/>
          <p:cNvSpPr/>
          <p:nvPr/>
        </p:nvSpPr>
        <p:spPr>
          <a:xfrm>
            <a:off x="5120640" y="2743200"/>
            <a:ext cx="2468880" cy="320040"/>
          </a:xfrm>
          <a:prstGeom prst="rect">
            <a:avLst/>
          </a:prstGeom>
          <a:noFill/>
          <a:ln/>
        </p:spPr>
        <p:txBody>
          <a:bodyPr wrap="square" rtlCol="0" anchor="ctr"/>
          <a:lstStyle/>
          <a:p>
            <a:pPr marL="0" indent="0">
              <a:buNone/>
            </a:pPr>
            <a:r>
              <a:rPr lang="en-US" sz="1500" b="1" dirty="0">
                <a:solidFill>
                  <a:srgbClr val="22D3EE"/>
                </a:solidFill>
              </a:rPr>
              <a:t>Due Today</a:t>
            </a:r>
            <a:endParaRPr lang="en-US" sz="1500" dirty="0"/>
          </a:p>
        </p:txBody>
      </p:sp>
      <p:sp>
        <p:nvSpPr>
          <p:cNvPr id="27" name="Text 23"/>
          <p:cNvSpPr/>
          <p:nvPr/>
        </p:nvSpPr>
        <p:spPr>
          <a:xfrm>
            <a:off x="5120640" y="3063240"/>
            <a:ext cx="2468880" cy="320040"/>
          </a:xfrm>
          <a:prstGeom prst="rect">
            <a:avLst/>
          </a:prstGeom>
          <a:noFill/>
          <a:ln/>
        </p:spPr>
        <p:txBody>
          <a:bodyPr wrap="square" rtlCol="0" anchor="ctr"/>
          <a:lstStyle/>
          <a:p>
            <a:pPr marL="0" indent="0">
              <a:buNone/>
            </a:pPr>
            <a:r>
              <a:rPr lang="en-US" sz="1100" dirty="0">
                <a:solidFill>
                  <a:srgbClr val="94A3B8"/>
                </a:solidFill>
              </a:rPr>
              <a:t>Immediate reviews</a:t>
            </a:r>
            <a:endParaRPr lang="en-US" sz="1100" dirty="0"/>
          </a:p>
        </p:txBody>
      </p:sp>
      <p:sp>
        <p:nvSpPr>
          <p:cNvPr id="28" name="Shape 24"/>
          <p:cNvSpPr/>
          <p:nvPr/>
        </p:nvSpPr>
        <p:spPr>
          <a:xfrm>
            <a:off x="8046720" y="2606040"/>
            <a:ext cx="3520440" cy="1417320"/>
          </a:xfrm>
          <a:prstGeom prst="roundRect">
            <a:avLst>
              <a:gd name="adj" fmla="val 5161"/>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29" name="Shape 25"/>
          <p:cNvSpPr/>
          <p:nvPr/>
        </p:nvSpPr>
        <p:spPr>
          <a:xfrm>
            <a:off x="8275320" y="2788920"/>
            <a:ext cx="502920" cy="502920"/>
          </a:xfrm>
          <a:prstGeom prst="ellipse">
            <a:avLst/>
          </a:prstGeom>
          <a:solidFill>
            <a:srgbClr val="0F2E24"/>
          </a:solidFill>
          <a:ln/>
        </p:spPr>
      </p:sp>
      <p:pic>
        <p:nvPicPr>
          <p:cNvPr id="30" name="Image 2" descr="preencoded.png"/>
          <p:cNvPicPr>
            <a:picLocks noChangeAspect="1"/>
          </p:cNvPicPr>
          <p:nvPr/>
        </p:nvPicPr>
        <p:blipFill>
          <a:blip r:embed="rId5"/>
          <a:stretch>
            <a:fillRect/>
          </a:stretch>
        </p:blipFill>
        <p:spPr>
          <a:xfrm>
            <a:off x="8396021" y="2909621"/>
            <a:ext cx="261518" cy="261518"/>
          </a:xfrm>
          <a:prstGeom prst="rect">
            <a:avLst/>
          </a:prstGeom>
        </p:spPr>
      </p:pic>
      <p:sp>
        <p:nvSpPr>
          <p:cNvPr id="31" name="Text 26"/>
          <p:cNvSpPr/>
          <p:nvPr/>
        </p:nvSpPr>
        <p:spPr>
          <a:xfrm>
            <a:off x="8915400" y="2743200"/>
            <a:ext cx="2468880" cy="320040"/>
          </a:xfrm>
          <a:prstGeom prst="rect">
            <a:avLst/>
          </a:prstGeom>
          <a:noFill/>
          <a:ln/>
        </p:spPr>
        <p:txBody>
          <a:bodyPr wrap="square" rtlCol="0" anchor="ctr"/>
          <a:lstStyle/>
          <a:p>
            <a:pPr marL="0" indent="0">
              <a:buNone/>
            </a:pPr>
            <a:r>
              <a:rPr lang="en-US" sz="1500" b="1" dirty="0">
                <a:solidFill>
                  <a:srgbClr val="34D399"/>
                </a:solidFill>
              </a:rPr>
              <a:t>Upcoming</a:t>
            </a:r>
            <a:endParaRPr lang="en-US" sz="1500" dirty="0"/>
          </a:p>
        </p:txBody>
      </p:sp>
      <p:sp>
        <p:nvSpPr>
          <p:cNvPr id="32" name="Text 27"/>
          <p:cNvSpPr/>
          <p:nvPr/>
        </p:nvSpPr>
        <p:spPr>
          <a:xfrm>
            <a:off x="8915400" y="3063240"/>
            <a:ext cx="2468880" cy="320040"/>
          </a:xfrm>
          <a:prstGeom prst="rect">
            <a:avLst/>
          </a:prstGeom>
          <a:noFill/>
          <a:ln/>
        </p:spPr>
        <p:txBody>
          <a:bodyPr wrap="square" rtlCol="0" anchor="ctr"/>
          <a:lstStyle/>
          <a:p>
            <a:pPr marL="0" indent="0">
              <a:buNone/>
            </a:pPr>
            <a:r>
              <a:rPr lang="en-US" sz="1100" dirty="0">
                <a:solidFill>
                  <a:srgbClr val="94A3B8"/>
                </a:solidFill>
              </a:rPr>
              <a:t>Next 7 days, sorted</a:t>
            </a:r>
            <a:endParaRPr lang="en-US" sz="1100" dirty="0"/>
          </a:p>
        </p:txBody>
      </p:sp>
      <p:sp>
        <p:nvSpPr>
          <p:cNvPr id="33" name="Text 28"/>
          <p:cNvSpPr/>
          <p:nvPr/>
        </p:nvSpPr>
        <p:spPr>
          <a:xfrm>
            <a:off x="457200" y="4206240"/>
            <a:ext cx="11274552" cy="731520"/>
          </a:xfrm>
          <a:prstGeom prst="rect">
            <a:avLst/>
          </a:prstGeom>
          <a:noFill/>
          <a:ln/>
        </p:spPr>
        <p:txBody>
          <a:bodyPr wrap="square" rtlCol="0" anchor="t"/>
          <a:lstStyle/>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Feedback-driven intervals: 1, 2, 3, 7, 14, 30, 60 days to match personal learning speed</a:t>
            </a:r>
            <a:endParaRPr lang="en-US" sz="130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Single-click actions automatically reset the interval and update the next review date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DASHBOARD</a:t>
            </a:r>
            <a:endParaRPr lang="en-US" sz="1200" dirty="0"/>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Visualizing Progress &amp; Accountability</a:t>
            </a:r>
            <a:endParaRPr lang="en-US" sz="3000" dirty="0"/>
          </a:p>
        </p:txBody>
      </p:sp>
      <p:sp>
        <p:nvSpPr>
          <p:cNvPr id="4" name="Shape 2"/>
          <p:cNvSpPr/>
          <p:nvPr/>
        </p:nvSpPr>
        <p:spPr>
          <a:xfrm>
            <a:off x="457200" y="1188720"/>
            <a:ext cx="6035040" cy="3566160"/>
          </a:xfrm>
          <a:prstGeom prst="roundRect">
            <a:avLst>
              <a:gd name="adj" fmla="val 2051"/>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5" name="Text 3"/>
          <p:cNvSpPr/>
          <p:nvPr/>
        </p:nvSpPr>
        <p:spPr>
          <a:xfrm>
            <a:off x="731520" y="1371600"/>
            <a:ext cx="5029200" cy="320040"/>
          </a:xfrm>
          <a:prstGeom prst="rect">
            <a:avLst/>
          </a:prstGeom>
          <a:noFill/>
          <a:ln/>
        </p:spPr>
        <p:txBody>
          <a:bodyPr wrap="square" rtlCol="0" anchor="ctr"/>
          <a:lstStyle/>
          <a:p>
            <a:pPr marL="0" indent="0">
              <a:buNone/>
            </a:pPr>
            <a:r>
              <a:rPr lang="en-US" sz="1300" b="1" dirty="0">
                <a:solidFill>
                  <a:srgbClr val="E2E8F0"/>
                </a:solidFill>
              </a:rPr>
              <a:t>90-Day Contribution Heatmap</a:t>
            </a:r>
            <a:endParaRPr lang="en-US" sz="1300" dirty="0"/>
          </a:p>
        </p:txBody>
      </p:sp>
      <p:sp>
        <p:nvSpPr>
          <p:cNvPr id="6" name="Shape 4"/>
          <p:cNvSpPr/>
          <p:nvPr/>
        </p:nvSpPr>
        <p:spPr>
          <a:xfrm>
            <a:off x="777240" y="1874520"/>
            <a:ext cx="347472" cy="292608"/>
          </a:xfrm>
          <a:prstGeom prst="roundRect">
            <a:avLst>
              <a:gd name="adj" fmla="val 9375"/>
            </a:avLst>
          </a:prstGeom>
          <a:solidFill>
            <a:srgbClr val="10744F"/>
          </a:solidFill>
          <a:ln/>
        </p:spPr>
      </p:sp>
      <p:sp>
        <p:nvSpPr>
          <p:cNvPr id="7" name="Shape 5"/>
          <p:cNvSpPr/>
          <p:nvPr/>
        </p:nvSpPr>
        <p:spPr>
          <a:xfrm>
            <a:off x="777240" y="2208276"/>
            <a:ext cx="347472" cy="292608"/>
          </a:xfrm>
          <a:prstGeom prst="roundRect">
            <a:avLst>
              <a:gd name="adj" fmla="val 9375"/>
            </a:avLst>
          </a:prstGeom>
          <a:solidFill>
            <a:srgbClr val="10744F"/>
          </a:solidFill>
          <a:ln/>
        </p:spPr>
      </p:sp>
      <p:sp>
        <p:nvSpPr>
          <p:cNvPr id="8" name="Shape 6"/>
          <p:cNvSpPr/>
          <p:nvPr/>
        </p:nvSpPr>
        <p:spPr>
          <a:xfrm>
            <a:off x="777240" y="2542032"/>
            <a:ext cx="347472" cy="292608"/>
          </a:xfrm>
          <a:prstGeom prst="roundRect">
            <a:avLst>
              <a:gd name="adj" fmla="val 9375"/>
            </a:avLst>
          </a:prstGeom>
          <a:solidFill>
            <a:srgbClr val="0B4A38"/>
          </a:solidFill>
          <a:ln/>
        </p:spPr>
      </p:sp>
      <p:sp>
        <p:nvSpPr>
          <p:cNvPr id="9" name="Shape 7"/>
          <p:cNvSpPr/>
          <p:nvPr/>
        </p:nvSpPr>
        <p:spPr>
          <a:xfrm>
            <a:off x="777240" y="2875788"/>
            <a:ext cx="347472" cy="292608"/>
          </a:xfrm>
          <a:prstGeom prst="roundRect">
            <a:avLst>
              <a:gd name="adj" fmla="val 9375"/>
            </a:avLst>
          </a:prstGeom>
          <a:solidFill>
            <a:srgbClr val="1E293B"/>
          </a:solidFill>
          <a:ln/>
        </p:spPr>
      </p:sp>
      <p:sp>
        <p:nvSpPr>
          <p:cNvPr id="10" name="Shape 8"/>
          <p:cNvSpPr/>
          <p:nvPr/>
        </p:nvSpPr>
        <p:spPr>
          <a:xfrm>
            <a:off x="777240" y="3209544"/>
            <a:ext cx="347472" cy="292608"/>
          </a:xfrm>
          <a:prstGeom prst="roundRect">
            <a:avLst>
              <a:gd name="adj" fmla="val 9375"/>
            </a:avLst>
          </a:prstGeom>
          <a:solidFill>
            <a:srgbClr val="0B4A38"/>
          </a:solidFill>
          <a:ln/>
        </p:spPr>
      </p:sp>
      <p:sp>
        <p:nvSpPr>
          <p:cNvPr id="11" name="Shape 9"/>
          <p:cNvSpPr/>
          <p:nvPr/>
        </p:nvSpPr>
        <p:spPr>
          <a:xfrm>
            <a:off x="777240" y="3543300"/>
            <a:ext cx="347472" cy="292608"/>
          </a:xfrm>
          <a:prstGeom prst="roundRect">
            <a:avLst>
              <a:gd name="adj" fmla="val 9375"/>
            </a:avLst>
          </a:prstGeom>
          <a:solidFill>
            <a:srgbClr val="1E293B"/>
          </a:solidFill>
          <a:ln/>
        </p:spPr>
      </p:sp>
      <p:sp>
        <p:nvSpPr>
          <p:cNvPr id="12" name="Shape 10"/>
          <p:cNvSpPr/>
          <p:nvPr/>
        </p:nvSpPr>
        <p:spPr>
          <a:xfrm>
            <a:off x="777240" y="3877056"/>
            <a:ext cx="347472" cy="292608"/>
          </a:xfrm>
          <a:prstGeom prst="roundRect">
            <a:avLst>
              <a:gd name="adj" fmla="val 9375"/>
            </a:avLst>
          </a:prstGeom>
          <a:solidFill>
            <a:srgbClr val="15A46A"/>
          </a:solidFill>
          <a:ln/>
        </p:spPr>
      </p:sp>
      <p:sp>
        <p:nvSpPr>
          <p:cNvPr id="13" name="Shape 11"/>
          <p:cNvSpPr/>
          <p:nvPr/>
        </p:nvSpPr>
        <p:spPr>
          <a:xfrm>
            <a:off x="1165860" y="1874520"/>
            <a:ext cx="347472" cy="292608"/>
          </a:xfrm>
          <a:prstGeom prst="roundRect">
            <a:avLst>
              <a:gd name="adj" fmla="val 9375"/>
            </a:avLst>
          </a:prstGeom>
          <a:solidFill>
            <a:srgbClr val="10744F"/>
          </a:solidFill>
          <a:ln/>
        </p:spPr>
      </p:sp>
      <p:sp>
        <p:nvSpPr>
          <p:cNvPr id="14" name="Shape 12"/>
          <p:cNvSpPr/>
          <p:nvPr/>
        </p:nvSpPr>
        <p:spPr>
          <a:xfrm>
            <a:off x="1165860" y="2208276"/>
            <a:ext cx="347472" cy="292608"/>
          </a:xfrm>
          <a:prstGeom prst="roundRect">
            <a:avLst>
              <a:gd name="adj" fmla="val 9375"/>
            </a:avLst>
          </a:prstGeom>
          <a:solidFill>
            <a:srgbClr val="1BE383"/>
          </a:solidFill>
          <a:ln/>
        </p:spPr>
      </p:sp>
      <p:sp>
        <p:nvSpPr>
          <p:cNvPr id="15" name="Shape 13"/>
          <p:cNvSpPr/>
          <p:nvPr/>
        </p:nvSpPr>
        <p:spPr>
          <a:xfrm>
            <a:off x="1165860" y="2542032"/>
            <a:ext cx="347472" cy="292608"/>
          </a:xfrm>
          <a:prstGeom prst="roundRect">
            <a:avLst>
              <a:gd name="adj" fmla="val 9375"/>
            </a:avLst>
          </a:prstGeom>
          <a:solidFill>
            <a:srgbClr val="1BE383"/>
          </a:solidFill>
          <a:ln/>
        </p:spPr>
      </p:sp>
      <p:sp>
        <p:nvSpPr>
          <p:cNvPr id="16" name="Shape 14"/>
          <p:cNvSpPr/>
          <p:nvPr/>
        </p:nvSpPr>
        <p:spPr>
          <a:xfrm>
            <a:off x="1165860" y="2875788"/>
            <a:ext cx="347472" cy="292608"/>
          </a:xfrm>
          <a:prstGeom prst="roundRect">
            <a:avLst>
              <a:gd name="adj" fmla="val 9375"/>
            </a:avLst>
          </a:prstGeom>
          <a:solidFill>
            <a:srgbClr val="1BE383"/>
          </a:solidFill>
          <a:ln/>
        </p:spPr>
      </p:sp>
      <p:sp>
        <p:nvSpPr>
          <p:cNvPr id="17" name="Shape 15"/>
          <p:cNvSpPr/>
          <p:nvPr/>
        </p:nvSpPr>
        <p:spPr>
          <a:xfrm>
            <a:off x="1165860" y="3209544"/>
            <a:ext cx="347472" cy="292608"/>
          </a:xfrm>
          <a:prstGeom prst="roundRect">
            <a:avLst>
              <a:gd name="adj" fmla="val 9375"/>
            </a:avLst>
          </a:prstGeom>
          <a:solidFill>
            <a:srgbClr val="10744F"/>
          </a:solidFill>
          <a:ln/>
        </p:spPr>
      </p:sp>
      <p:sp>
        <p:nvSpPr>
          <p:cNvPr id="18" name="Shape 16"/>
          <p:cNvSpPr/>
          <p:nvPr/>
        </p:nvSpPr>
        <p:spPr>
          <a:xfrm>
            <a:off x="1165860" y="3543300"/>
            <a:ext cx="347472" cy="292608"/>
          </a:xfrm>
          <a:prstGeom prst="roundRect">
            <a:avLst>
              <a:gd name="adj" fmla="val 9375"/>
            </a:avLst>
          </a:prstGeom>
          <a:solidFill>
            <a:srgbClr val="10744F"/>
          </a:solidFill>
          <a:ln/>
        </p:spPr>
      </p:sp>
      <p:sp>
        <p:nvSpPr>
          <p:cNvPr id="19" name="Shape 17"/>
          <p:cNvSpPr/>
          <p:nvPr/>
        </p:nvSpPr>
        <p:spPr>
          <a:xfrm>
            <a:off x="1165860" y="3877056"/>
            <a:ext cx="347472" cy="292608"/>
          </a:xfrm>
          <a:prstGeom prst="roundRect">
            <a:avLst>
              <a:gd name="adj" fmla="val 9375"/>
            </a:avLst>
          </a:prstGeom>
          <a:solidFill>
            <a:srgbClr val="0B4A38"/>
          </a:solidFill>
          <a:ln/>
        </p:spPr>
      </p:sp>
      <p:sp>
        <p:nvSpPr>
          <p:cNvPr id="20" name="Shape 18"/>
          <p:cNvSpPr/>
          <p:nvPr/>
        </p:nvSpPr>
        <p:spPr>
          <a:xfrm>
            <a:off x="1554480" y="1874520"/>
            <a:ext cx="347472" cy="292608"/>
          </a:xfrm>
          <a:prstGeom prst="roundRect">
            <a:avLst>
              <a:gd name="adj" fmla="val 9375"/>
            </a:avLst>
          </a:prstGeom>
          <a:solidFill>
            <a:srgbClr val="15A46A"/>
          </a:solidFill>
          <a:ln/>
        </p:spPr>
      </p:sp>
      <p:sp>
        <p:nvSpPr>
          <p:cNvPr id="21" name="Shape 19"/>
          <p:cNvSpPr/>
          <p:nvPr/>
        </p:nvSpPr>
        <p:spPr>
          <a:xfrm>
            <a:off x="1554480" y="2208276"/>
            <a:ext cx="347472" cy="292608"/>
          </a:xfrm>
          <a:prstGeom prst="roundRect">
            <a:avLst>
              <a:gd name="adj" fmla="val 9375"/>
            </a:avLst>
          </a:prstGeom>
          <a:solidFill>
            <a:srgbClr val="0B4A38"/>
          </a:solidFill>
          <a:ln/>
        </p:spPr>
      </p:sp>
      <p:sp>
        <p:nvSpPr>
          <p:cNvPr id="22" name="Shape 20"/>
          <p:cNvSpPr/>
          <p:nvPr/>
        </p:nvSpPr>
        <p:spPr>
          <a:xfrm>
            <a:off x="1554480" y="2542032"/>
            <a:ext cx="347472" cy="292608"/>
          </a:xfrm>
          <a:prstGeom prst="roundRect">
            <a:avLst>
              <a:gd name="adj" fmla="val 9375"/>
            </a:avLst>
          </a:prstGeom>
          <a:solidFill>
            <a:srgbClr val="10744F"/>
          </a:solidFill>
          <a:ln/>
        </p:spPr>
      </p:sp>
      <p:sp>
        <p:nvSpPr>
          <p:cNvPr id="23" name="Shape 21"/>
          <p:cNvSpPr/>
          <p:nvPr/>
        </p:nvSpPr>
        <p:spPr>
          <a:xfrm>
            <a:off x="1554480" y="2875788"/>
            <a:ext cx="347472" cy="292608"/>
          </a:xfrm>
          <a:prstGeom prst="roundRect">
            <a:avLst>
              <a:gd name="adj" fmla="val 9375"/>
            </a:avLst>
          </a:prstGeom>
          <a:solidFill>
            <a:srgbClr val="1BE383"/>
          </a:solidFill>
          <a:ln/>
        </p:spPr>
      </p:sp>
      <p:sp>
        <p:nvSpPr>
          <p:cNvPr id="24" name="Shape 22"/>
          <p:cNvSpPr/>
          <p:nvPr/>
        </p:nvSpPr>
        <p:spPr>
          <a:xfrm>
            <a:off x="1554480" y="3209544"/>
            <a:ext cx="347472" cy="292608"/>
          </a:xfrm>
          <a:prstGeom prst="roundRect">
            <a:avLst>
              <a:gd name="adj" fmla="val 9375"/>
            </a:avLst>
          </a:prstGeom>
          <a:solidFill>
            <a:srgbClr val="1E293B"/>
          </a:solidFill>
          <a:ln/>
        </p:spPr>
      </p:sp>
      <p:sp>
        <p:nvSpPr>
          <p:cNvPr id="25" name="Shape 23"/>
          <p:cNvSpPr/>
          <p:nvPr/>
        </p:nvSpPr>
        <p:spPr>
          <a:xfrm>
            <a:off x="1554480" y="3543300"/>
            <a:ext cx="347472" cy="292608"/>
          </a:xfrm>
          <a:prstGeom prst="roundRect">
            <a:avLst>
              <a:gd name="adj" fmla="val 9375"/>
            </a:avLst>
          </a:prstGeom>
          <a:solidFill>
            <a:srgbClr val="1E293B"/>
          </a:solidFill>
          <a:ln/>
        </p:spPr>
      </p:sp>
      <p:sp>
        <p:nvSpPr>
          <p:cNvPr id="26" name="Shape 24"/>
          <p:cNvSpPr/>
          <p:nvPr/>
        </p:nvSpPr>
        <p:spPr>
          <a:xfrm>
            <a:off x="1554480" y="3877056"/>
            <a:ext cx="347472" cy="292608"/>
          </a:xfrm>
          <a:prstGeom prst="roundRect">
            <a:avLst>
              <a:gd name="adj" fmla="val 9375"/>
            </a:avLst>
          </a:prstGeom>
          <a:solidFill>
            <a:srgbClr val="0B4A38"/>
          </a:solidFill>
          <a:ln/>
        </p:spPr>
      </p:sp>
      <p:sp>
        <p:nvSpPr>
          <p:cNvPr id="27" name="Shape 25"/>
          <p:cNvSpPr/>
          <p:nvPr/>
        </p:nvSpPr>
        <p:spPr>
          <a:xfrm>
            <a:off x="1943100" y="1874520"/>
            <a:ext cx="347472" cy="292608"/>
          </a:xfrm>
          <a:prstGeom prst="roundRect">
            <a:avLst>
              <a:gd name="adj" fmla="val 9375"/>
            </a:avLst>
          </a:prstGeom>
          <a:solidFill>
            <a:srgbClr val="1BE383"/>
          </a:solidFill>
          <a:ln/>
        </p:spPr>
      </p:sp>
      <p:sp>
        <p:nvSpPr>
          <p:cNvPr id="28" name="Shape 26"/>
          <p:cNvSpPr/>
          <p:nvPr/>
        </p:nvSpPr>
        <p:spPr>
          <a:xfrm>
            <a:off x="1943100" y="2208276"/>
            <a:ext cx="347472" cy="292608"/>
          </a:xfrm>
          <a:prstGeom prst="roundRect">
            <a:avLst>
              <a:gd name="adj" fmla="val 9375"/>
            </a:avLst>
          </a:prstGeom>
          <a:solidFill>
            <a:srgbClr val="0B4A38"/>
          </a:solidFill>
          <a:ln/>
        </p:spPr>
      </p:sp>
      <p:sp>
        <p:nvSpPr>
          <p:cNvPr id="29" name="Shape 27"/>
          <p:cNvSpPr/>
          <p:nvPr/>
        </p:nvSpPr>
        <p:spPr>
          <a:xfrm>
            <a:off x="1943100" y="2542032"/>
            <a:ext cx="347472" cy="292608"/>
          </a:xfrm>
          <a:prstGeom prst="roundRect">
            <a:avLst>
              <a:gd name="adj" fmla="val 9375"/>
            </a:avLst>
          </a:prstGeom>
          <a:solidFill>
            <a:srgbClr val="10744F"/>
          </a:solidFill>
          <a:ln/>
        </p:spPr>
      </p:sp>
      <p:sp>
        <p:nvSpPr>
          <p:cNvPr id="30" name="Shape 28"/>
          <p:cNvSpPr/>
          <p:nvPr/>
        </p:nvSpPr>
        <p:spPr>
          <a:xfrm>
            <a:off x="1943100" y="2875788"/>
            <a:ext cx="347472" cy="292608"/>
          </a:xfrm>
          <a:prstGeom prst="roundRect">
            <a:avLst>
              <a:gd name="adj" fmla="val 9375"/>
            </a:avLst>
          </a:prstGeom>
          <a:solidFill>
            <a:srgbClr val="10744F"/>
          </a:solidFill>
          <a:ln/>
        </p:spPr>
      </p:sp>
      <p:sp>
        <p:nvSpPr>
          <p:cNvPr id="31" name="Shape 29"/>
          <p:cNvSpPr/>
          <p:nvPr/>
        </p:nvSpPr>
        <p:spPr>
          <a:xfrm>
            <a:off x="1943100" y="3209544"/>
            <a:ext cx="347472" cy="292608"/>
          </a:xfrm>
          <a:prstGeom prst="roundRect">
            <a:avLst>
              <a:gd name="adj" fmla="val 9375"/>
            </a:avLst>
          </a:prstGeom>
          <a:solidFill>
            <a:srgbClr val="15A46A"/>
          </a:solidFill>
          <a:ln/>
        </p:spPr>
      </p:sp>
      <p:sp>
        <p:nvSpPr>
          <p:cNvPr id="32" name="Shape 30"/>
          <p:cNvSpPr/>
          <p:nvPr/>
        </p:nvSpPr>
        <p:spPr>
          <a:xfrm>
            <a:off x="1943100" y="3543300"/>
            <a:ext cx="347472" cy="292608"/>
          </a:xfrm>
          <a:prstGeom prst="roundRect">
            <a:avLst>
              <a:gd name="adj" fmla="val 9375"/>
            </a:avLst>
          </a:prstGeom>
          <a:solidFill>
            <a:srgbClr val="10744F"/>
          </a:solidFill>
          <a:ln/>
        </p:spPr>
      </p:sp>
      <p:sp>
        <p:nvSpPr>
          <p:cNvPr id="33" name="Shape 31"/>
          <p:cNvSpPr/>
          <p:nvPr/>
        </p:nvSpPr>
        <p:spPr>
          <a:xfrm>
            <a:off x="1943100" y="3877056"/>
            <a:ext cx="347472" cy="292608"/>
          </a:xfrm>
          <a:prstGeom prst="roundRect">
            <a:avLst>
              <a:gd name="adj" fmla="val 9375"/>
            </a:avLst>
          </a:prstGeom>
          <a:solidFill>
            <a:srgbClr val="1E293B"/>
          </a:solidFill>
          <a:ln/>
        </p:spPr>
      </p:sp>
      <p:sp>
        <p:nvSpPr>
          <p:cNvPr id="34" name="Shape 32"/>
          <p:cNvSpPr/>
          <p:nvPr/>
        </p:nvSpPr>
        <p:spPr>
          <a:xfrm>
            <a:off x="2331720" y="1874520"/>
            <a:ext cx="347472" cy="292608"/>
          </a:xfrm>
          <a:prstGeom prst="roundRect">
            <a:avLst>
              <a:gd name="adj" fmla="val 9375"/>
            </a:avLst>
          </a:prstGeom>
          <a:solidFill>
            <a:srgbClr val="10744F"/>
          </a:solidFill>
          <a:ln/>
        </p:spPr>
      </p:sp>
      <p:sp>
        <p:nvSpPr>
          <p:cNvPr id="35" name="Shape 33"/>
          <p:cNvSpPr/>
          <p:nvPr/>
        </p:nvSpPr>
        <p:spPr>
          <a:xfrm>
            <a:off x="2331720" y="2208276"/>
            <a:ext cx="347472" cy="292608"/>
          </a:xfrm>
          <a:prstGeom prst="roundRect">
            <a:avLst>
              <a:gd name="adj" fmla="val 9375"/>
            </a:avLst>
          </a:prstGeom>
          <a:solidFill>
            <a:srgbClr val="1E293B"/>
          </a:solidFill>
          <a:ln/>
        </p:spPr>
      </p:sp>
      <p:sp>
        <p:nvSpPr>
          <p:cNvPr id="36" name="Shape 34"/>
          <p:cNvSpPr/>
          <p:nvPr/>
        </p:nvSpPr>
        <p:spPr>
          <a:xfrm>
            <a:off x="2331720" y="2542032"/>
            <a:ext cx="347472" cy="292608"/>
          </a:xfrm>
          <a:prstGeom prst="roundRect">
            <a:avLst>
              <a:gd name="adj" fmla="val 9375"/>
            </a:avLst>
          </a:prstGeom>
          <a:solidFill>
            <a:srgbClr val="10744F"/>
          </a:solidFill>
          <a:ln/>
        </p:spPr>
      </p:sp>
      <p:sp>
        <p:nvSpPr>
          <p:cNvPr id="37" name="Shape 35"/>
          <p:cNvSpPr/>
          <p:nvPr/>
        </p:nvSpPr>
        <p:spPr>
          <a:xfrm>
            <a:off x="2331720" y="2875788"/>
            <a:ext cx="347472" cy="292608"/>
          </a:xfrm>
          <a:prstGeom prst="roundRect">
            <a:avLst>
              <a:gd name="adj" fmla="val 9375"/>
            </a:avLst>
          </a:prstGeom>
          <a:solidFill>
            <a:srgbClr val="10744F"/>
          </a:solidFill>
          <a:ln/>
        </p:spPr>
      </p:sp>
      <p:sp>
        <p:nvSpPr>
          <p:cNvPr id="38" name="Shape 36"/>
          <p:cNvSpPr/>
          <p:nvPr/>
        </p:nvSpPr>
        <p:spPr>
          <a:xfrm>
            <a:off x="2331720" y="3209544"/>
            <a:ext cx="347472" cy="292608"/>
          </a:xfrm>
          <a:prstGeom prst="roundRect">
            <a:avLst>
              <a:gd name="adj" fmla="val 9375"/>
            </a:avLst>
          </a:prstGeom>
          <a:solidFill>
            <a:srgbClr val="10744F"/>
          </a:solidFill>
          <a:ln/>
        </p:spPr>
      </p:sp>
      <p:sp>
        <p:nvSpPr>
          <p:cNvPr id="39" name="Shape 37"/>
          <p:cNvSpPr/>
          <p:nvPr/>
        </p:nvSpPr>
        <p:spPr>
          <a:xfrm>
            <a:off x="2331720" y="3543300"/>
            <a:ext cx="347472" cy="292608"/>
          </a:xfrm>
          <a:prstGeom prst="roundRect">
            <a:avLst>
              <a:gd name="adj" fmla="val 9375"/>
            </a:avLst>
          </a:prstGeom>
          <a:solidFill>
            <a:srgbClr val="0B4A38"/>
          </a:solidFill>
          <a:ln/>
        </p:spPr>
      </p:sp>
      <p:sp>
        <p:nvSpPr>
          <p:cNvPr id="40" name="Shape 38"/>
          <p:cNvSpPr/>
          <p:nvPr/>
        </p:nvSpPr>
        <p:spPr>
          <a:xfrm>
            <a:off x="2331720" y="3877056"/>
            <a:ext cx="347472" cy="292608"/>
          </a:xfrm>
          <a:prstGeom prst="roundRect">
            <a:avLst>
              <a:gd name="adj" fmla="val 9375"/>
            </a:avLst>
          </a:prstGeom>
          <a:solidFill>
            <a:srgbClr val="0B4A38"/>
          </a:solidFill>
          <a:ln/>
        </p:spPr>
      </p:sp>
      <p:sp>
        <p:nvSpPr>
          <p:cNvPr id="41" name="Shape 39"/>
          <p:cNvSpPr/>
          <p:nvPr/>
        </p:nvSpPr>
        <p:spPr>
          <a:xfrm>
            <a:off x="2720340" y="1874520"/>
            <a:ext cx="347472" cy="292608"/>
          </a:xfrm>
          <a:prstGeom prst="roundRect">
            <a:avLst>
              <a:gd name="adj" fmla="val 9375"/>
            </a:avLst>
          </a:prstGeom>
          <a:solidFill>
            <a:srgbClr val="1BE383"/>
          </a:solidFill>
          <a:ln/>
        </p:spPr>
      </p:sp>
      <p:sp>
        <p:nvSpPr>
          <p:cNvPr id="42" name="Shape 40"/>
          <p:cNvSpPr/>
          <p:nvPr/>
        </p:nvSpPr>
        <p:spPr>
          <a:xfrm>
            <a:off x="2720340" y="2208276"/>
            <a:ext cx="347472" cy="292608"/>
          </a:xfrm>
          <a:prstGeom prst="roundRect">
            <a:avLst>
              <a:gd name="adj" fmla="val 9375"/>
            </a:avLst>
          </a:prstGeom>
          <a:solidFill>
            <a:srgbClr val="10744F"/>
          </a:solidFill>
          <a:ln/>
        </p:spPr>
      </p:sp>
      <p:sp>
        <p:nvSpPr>
          <p:cNvPr id="43" name="Shape 41"/>
          <p:cNvSpPr/>
          <p:nvPr/>
        </p:nvSpPr>
        <p:spPr>
          <a:xfrm>
            <a:off x="2720340" y="2542032"/>
            <a:ext cx="347472" cy="292608"/>
          </a:xfrm>
          <a:prstGeom prst="roundRect">
            <a:avLst>
              <a:gd name="adj" fmla="val 9375"/>
            </a:avLst>
          </a:prstGeom>
          <a:solidFill>
            <a:srgbClr val="10744F"/>
          </a:solidFill>
          <a:ln/>
        </p:spPr>
      </p:sp>
      <p:sp>
        <p:nvSpPr>
          <p:cNvPr id="44" name="Shape 42"/>
          <p:cNvSpPr/>
          <p:nvPr/>
        </p:nvSpPr>
        <p:spPr>
          <a:xfrm>
            <a:off x="2720340" y="2875788"/>
            <a:ext cx="347472" cy="292608"/>
          </a:xfrm>
          <a:prstGeom prst="roundRect">
            <a:avLst>
              <a:gd name="adj" fmla="val 9375"/>
            </a:avLst>
          </a:prstGeom>
          <a:solidFill>
            <a:srgbClr val="15A46A"/>
          </a:solidFill>
          <a:ln/>
        </p:spPr>
      </p:sp>
      <p:sp>
        <p:nvSpPr>
          <p:cNvPr id="45" name="Shape 43"/>
          <p:cNvSpPr/>
          <p:nvPr/>
        </p:nvSpPr>
        <p:spPr>
          <a:xfrm>
            <a:off x="2720340" y="3209544"/>
            <a:ext cx="347472" cy="292608"/>
          </a:xfrm>
          <a:prstGeom prst="roundRect">
            <a:avLst>
              <a:gd name="adj" fmla="val 9375"/>
            </a:avLst>
          </a:prstGeom>
          <a:solidFill>
            <a:srgbClr val="1BE383"/>
          </a:solidFill>
          <a:ln/>
        </p:spPr>
      </p:sp>
      <p:sp>
        <p:nvSpPr>
          <p:cNvPr id="46" name="Shape 44"/>
          <p:cNvSpPr/>
          <p:nvPr/>
        </p:nvSpPr>
        <p:spPr>
          <a:xfrm>
            <a:off x="2720340" y="3543300"/>
            <a:ext cx="347472" cy="292608"/>
          </a:xfrm>
          <a:prstGeom prst="roundRect">
            <a:avLst>
              <a:gd name="adj" fmla="val 9375"/>
            </a:avLst>
          </a:prstGeom>
          <a:solidFill>
            <a:srgbClr val="0B4A38"/>
          </a:solidFill>
          <a:ln/>
        </p:spPr>
      </p:sp>
      <p:sp>
        <p:nvSpPr>
          <p:cNvPr id="47" name="Shape 45"/>
          <p:cNvSpPr/>
          <p:nvPr/>
        </p:nvSpPr>
        <p:spPr>
          <a:xfrm>
            <a:off x="2720340" y="3877056"/>
            <a:ext cx="347472" cy="292608"/>
          </a:xfrm>
          <a:prstGeom prst="roundRect">
            <a:avLst>
              <a:gd name="adj" fmla="val 9375"/>
            </a:avLst>
          </a:prstGeom>
          <a:solidFill>
            <a:srgbClr val="0B4A38"/>
          </a:solidFill>
          <a:ln/>
        </p:spPr>
      </p:sp>
      <p:sp>
        <p:nvSpPr>
          <p:cNvPr id="48" name="Shape 46"/>
          <p:cNvSpPr/>
          <p:nvPr/>
        </p:nvSpPr>
        <p:spPr>
          <a:xfrm>
            <a:off x="3108960" y="1874520"/>
            <a:ext cx="347472" cy="292608"/>
          </a:xfrm>
          <a:prstGeom prst="roundRect">
            <a:avLst>
              <a:gd name="adj" fmla="val 9375"/>
            </a:avLst>
          </a:prstGeom>
          <a:solidFill>
            <a:srgbClr val="1E293B"/>
          </a:solidFill>
          <a:ln/>
        </p:spPr>
      </p:sp>
      <p:sp>
        <p:nvSpPr>
          <p:cNvPr id="49" name="Shape 47"/>
          <p:cNvSpPr/>
          <p:nvPr/>
        </p:nvSpPr>
        <p:spPr>
          <a:xfrm>
            <a:off x="3108960" y="2208276"/>
            <a:ext cx="347472" cy="292608"/>
          </a:xfrm>
          <a:prstGeom prst="roundRect">
            <a:avLst>
              <a:gd name="adj" fmla="val 9375"/>
            </a:avLst>
          </a:prstGeom>
          <a:solidFill>
            <a:srgbClr val="1BE383"/>
          </a:solidFill>
          <a:ln/>
        </p:spPr>
      </p:sp>
      <p:sp>
        <p:nvSpPr>
          <p:cNvPr id="50" name="Shape 48"/>
          <p:cNvSpPr/>
          <p:nvPr/>
        </p:nvSpPr>
        <p:spPr>
          <a:xfrm>
            <a:off x="3108960" y="2542032"/>
            <a:ext cx="347472" cy="292608"/>
          </a:xfrm>
          <a:prstGeom prst="roundRect">
            <a:avLst>
              <a:gd name="adj" fmla="val 9375"/>
            </a:avLst>
          </a:prstGeom>
          <a:solidFill>
            <a:srgbClr val="1BE383"/>
          </a:solidFill>
          <a:ln/>
        </p:spPr>
      </p:sp>
      <p:sp>
        <p:nvSpPr>
          <p:cNvPr id="51" name="Shape 49"/>
          <p:cNvSpPr/>
          <p:nvPr/>
        </p:nvSpPr>
        <p:spPr>
          <a:xfrm>
            <a:off x="3108960" y="2875788"/>
            <a:ext cx="347472" cy="292608"/>
          </a:xfrm>
          <a:prstGeom prst="roundRect">
            <a:avLst>
              <a:gd name="adj" fmla="val 9375"/>
            </a:avLst>
          </a:prstGeom>
          <a:solidFill>
            <a:srgbClr val="0B4A38"/>
          </a:solidFill>
          <a:ln/>
        </p:spPr>
      </p:sp>
      <p:sp>
        <p:nvSpPr>
          <p:cNvPr id="52" name="Shape 50"/>
          <p:cNvSpPr/>
          <p:nvPr/>
        </p:nvSpPr>
        <p:spPr>
          <a:xfrm>
            <a:off x="3108960" y="3209544"/>
            <a:ext cx="347472" cy="292608"/>
          </a:xfrm>
          <a:prstGeom prst="roundRect">
            <a:avLst>
              <a:gd name="adj" fmla="val 9375"/>
            </a:avLst>
          </a:prstGeom>
          <a:solidFill>
            <a:srgbClr val="0B4A38"/>
          </a:solidFill>
          <a:ln/>
        </p:spPr>
      </p:sp>
      <p:sp>
        <p:nvSpPr>
          <p:cNvPr id="53" name="Shape 51"/>
          <p:cNvSpPr/>
          <p:nvPr/>
        </p:nvSpPr>
        <p:spPr>
          <a:xfrm>
            <a:off x="3108960" y="3543300"/>
            <a:ext cx="347472" cy="292608"/>
          </a:xfrm>
          <a:prstGeom prst="roundRect">
            <a:avLst>
              <a:gd name="adj" fmla="val 9375"/>
            </a:avLst>
          </a:prstGeom>
          <a:solidFill>
            <a:srgbClr val="10744F"/>
          </a:solidFill>
          <a:ln/>
        </p:spPr>
      </p:sp>
      <p:sp>
        <p:nvSpPr>
          <p:cNvPr id="54" name="Shape 52"/>
          <p:cNvSpPr/>
          <p:nvPr/>
        </p:nvSpPr>
        <p:spPr>
          <a:xfrm>
            <a:off x="3108960" y="3877056"/>
            <a:ext cx="347472" cy="292608"/>
          </a:xfrm>
          <a:prstGeom prst="roundRect">
            <a:avLst>
              <a:gd name="adj" fmla="val 9375"/>
            </a:avLst>
          </a:prstGeom>
          <a:solidFill>
            <a:srgbClr val="0B4A38"/>
          </a:solidFill>
          <a:ln/>
        </p:spPr>
      </p:sp>
      <p:sp>
        <p:nvSpPr>
          <p:cNvPr id="55" name="Shape 53"/>
          <p:cNvSpPr/>
          <p:nvPr/>
        </p:nvSpPr>
        <p:spPr>
          <a:xfrm>
            <a:off x="3497580" y="1874520"/>
            <a:ext cx="347472" cy="292608"/>
          </a:xfrm>
          <a:prstGeom prst="roundRect">
            <a:avLst>
              <a:gd name="adj" fmla="val 9375"/>
            </a:avLst>
          </a:prstGeom>
          <a:solidFill>
            <a:srgbClr val="10744F"/>
          </a:solidFill>
          <a:ln/>
        </p:spPr>
      </p:sp>
      <p:sp>
        <p:nvSpPr>
          <p:cNvPr id="56" name="Shape 54"/>
          <p:cNvSpPr/>
          <p:nvPr/>
        </p:nvSpPr>
        <p:spPr>
          <a:xfrm>
            <a:off x="3497580" y="2208276"/>
            <a:ext cx="347472" cy="292608"/>
          </a:xfrm>
          <a:prstGeom prst="roundRect">
            <a:avLst>
              <a:gd name="adj" fmla="val 9375"/>
            </a:avLst>
          </a:prstGeom>
          <a:solidFill>
            <a:srgbClr val="1E293B"/>
          </a:solidFill>
          <a:ln/>
        </p:spPr>
      </p:sp>
      <p:sp>
        <p:nvSpPr>
          <p:cNvPr id="57" name="Shape 55"/>
          <p:cNvSpPr/>
          <p:nvPr/>
        </p:nvSpPr>
        <p:spPr>
          <a:xfrm>
            <a:off x="3497580" y="2542032"/>
            <a:ext cx="347472" cy="292608"/>
          </a:xfrm>
          <a:prstGeom prst="roundRect">
            <a:avLst>
              <a:gd name="adj" fmla="val 9375"/>
            </a:avLst>
          </a:prstGeom>
          <a:solidFill>
            <a:srgbClr val="10744F"/>
          </a:solidFill>
          <a:ln/>
        </p:spPr>
      </p:sp>
      <p:sp>
        <p:nvSpPr>
          <p:cNvPr id="58" name="Shape 56"/>
          <p:cNvSpPr/>
          <p:nvPr/>
        </p:nvSpPr>
        <p:spPr>
          <a:xfrm>
            <a:off x="3497580" y="2875788"/>
            <a:ext cx="347472" cy="292608"/>
          </a:xfrm>
          <a:prstGeom prst="roundRect">
            <a:avLst>
              <a:gd name="adj" fmla="val 9375"/>
            </a:avLst>
          </a:prstGeom>
          <a:solidFill>
            <a:srgbClr val="1BE383"/>
          </a:solidFill>
          <a:ln/>
        </p:spPr>
      </p:sp>
      <p:sp>
        <p:nvSpPr>
          <p:cNvPr id="59" name="Shape 57"/>
          <p:cNvSpPr/>
          <p:nvPr/>
        </p:nvSpPr>
        <p:spPr>
          <a:xfrm>
            <a:off x="3497580" y="3209544"/>
            <a:ext cx="347472" cy="292608"/>
          </a:xfrm>
          <a:prstGeom prst="roundRect">
            <a:avLst>
              <a:gd name="adj" fmla="val 9375"/>
            </a:avLst>
          </a:prstGeom>
          <a:solidFill>
            <a:srgbClr val="1BE383"/>
          </a:solidFill>
          <a:ln/>
        </p:spPr>
      </p:sp>
      <p:sp>
        <p:nvSpPr>
          <p:cNvPr id="60" name="Shape 58"/>
          <p:cNvSpPr/>
          <p:nvPr/>
        </p:nvSpPr>
        <p:spPr>
          <a:xfrm>
            <a:off x="3497580" y="3543300"/>
            <a:ext cx="347472" cy="292608"/>
          </a:xfrm>
          <a:prstGeom prst="roundRect">
            <a:avLst>
              <a:gd name="adj" fmla="val 9375"/>
            </a:avLst>
          </a:prstGeom>
          <a:solidFill>
            <a:srgbClr val="0B4A38"/>
          </a:solidFill>
          <a:ln/>
        </p:spPr>
      </p:sp>
      <p:sp>
        <p:nvSpPr>
          <p:cNvPr id="61" name="Shape 59"/>
          <p:cNvSpPr/>
          <p:nvPr/>
        </p:nvSpPr>
        <p:spPr>
          <a:xfrm>
            <a:off x="3497580" y="3877056"/>
            <a:ext cx="347472" cy="292608"/>
          </a:xfrm>
          <a:prstGeom prst="roundRect">
            <a:avLst>
              <a:gd name="adj" fmla="val 9375"/>
            </a:avLst>
          </a:prstGeom>
          <a:solidFill>
            <a:srgbClr val="10744F"/>
          </a:solidFill>
          <a:ln/>
        </p:spPr>
      </p:sp>
      <p:sp>
        <p:nvSpPr>
          <p:cNvPr id="62" name="Shape 60"/>
          <p:cNvSpPr/>
          <p:nvPr/>
        </p:nvSpPr>
        <p:spPr>
          <a:xfrm>
            <a:off x="3886200" y="1874520"/>
            <a:ext cx="347472" cy="292608"/>
          </a:xfrm>
          <a:prstGeom prst="roundRect">
            <a:avLst>
              <a:gd name="adj" fmla="val 9375"/>
            </a:avLst>
          </a:prstGeom>
          <a:solidFill>
            <a:srgbClr val="0B4A38"/>
          </a:solidFill>
          <a:ln/>
        </p:spPr>
      </p:sp>
      <p:sp>
        <p:nvSpPr>
          <p:cNvPr id="63" name="Shape 61"/>
          <p:cNvSpPr/>
          <p:nvPr/>
        </p:nvSpPr>
        <p:spPr>
          <a:xfrm>
            <a:off x="3886200" y="2208276"/>
            <a:ext cx="347472" cy="292608"/>
          </a:xfrm>
          <a:prstGeom prst="roundRect">
            <a:avLst>
              <a:gd name="adj" fmla="val 9375"/>
            </a:avLst>
          </a:prstGeom>
          <a:solidFill>
            <a:srgbClr val="10744F"/>
          </a:solidFill>
          <a:ln/>
        </p:spPr>
      </p:sp>
      <p:sp>
        <p:nvSpPr>
          <p:cNvPr id="64" name="Shape 62"/>
          <p:cNvSpPr/>
          <p:nvPr/>
        </p:nvSpPr>
        <p:spPr>
          <a:xfrm>
            <a:off x="3886200" y="2542032"/>
            <a:ext cx="347472" cy="292608"/>
          </a:xfrm>
          <a:prstGeom prst="roundRect">
            <a:avLst>
              <a:gd name="adj" fmla="val 9375"/>
            </a:avLst>
          </a:prstGeom>
          <a:solidFill>
            <a:srgbClr val="0B4A38"/>
          </a:solidFill>
          <a:ln/>
        </p:spPr>
      </p:sp>
      <p:sp>
        <p:nvSpPr>
          <p:cNvPr id="65" name="Shape 63"/>
          <p:cNvSpPr/>
          <p:nvPr/>
        </p:nvSpPr>
        <p:spPr>
          <a:xfrm>
            <a:off x="3886200" y="2875788"/>
            <a:ext cx="347472" cy="292608"/>
          </a:xfrm>
          <a:prstGeom prst="roundRect">
            <a:avLst>
              <a:gd name="adj" fmla="val 9375"/>
            </a:avLst>
          </a:prstGeom>
          <a:solidFill>
            <a:srgbClr val="1BE383"/>
          </a:solidFill>
          <a:ln/>
        </p:spPr>
      </p:sp>
      <p:sp>
        <p:nvSpPr>
          <p:cNvPr id="66" name="Shape 64"/>
          <p:cNvSpPr/>
          <p:nvPr/>
        </p:nvSpPr>
        <p:spPr>
          <a:xfrm>
            <a:off x="3886200" y="3209544"/>
            <a:ext cx="347472" cy="292608"/>
          </a:xfrm>
          <a:prstGeom prst="roundRect">
            <a:avLst>
              <a:gd name="adj" fmla="val 9375"/>
            </a:avLst>
          </a:prstGeom>
          <a:solidFill>
            <a:srgbClr val="1BE383"/>
          </a:solidFill>
          <a:ln/>
        </p:spPr>
      </p:sp>
      <p:sp>
        <p:nvSpPr>
          <p:cNvPr id="67" name="Shape 65"/>
          <p:cNvSpPr/>
          <p:nvPr/>
        </p:nvSpPr>
        <p:spPr>
          <a:xfrm>
            <a:off x="3886200" y="3543300"/>
            <a:ext cx="347472" cy="292608"/>
          </a:xfrm>
          <a:prstGeom prst="roundRect">
            <a:avLst>
              <a:gd name="adj" fmla="val 9375"/>
            </a:avLst>
          </a:prstGeom>
          <a:solidFill>
            <a:srgbClr val="10744F"/>
          </a:solidFill>
          <a:ln/>
        </p:spPr>
      </p:sp>
      <p:sp>
        <p:nvSpPr>
          <p:cNvPr id="68" name="Shape 66"/>
          <p:cNvSpPr/>
          <p:nvPr/>
        </p:nvSpPr>
        <p:spPr>
          <a:xfrm>
            <a:off x="3886200" y="3877056"/>
            <a:ext cx="347472" cy="292608"/>
          </a:xfrm>
          <a:prstGeom prst="roundRect">
            <a:avLst>
              <a:gd name="adj" fmla="val 9375"/>
            </a:avLst>
          </a:prstGeom>
          <a:solidFill>
            <a:srgbClr val="1E293B"/>
          </a:solidFill>
          <a:ln/>
        </p:spPr>
      </p:sp>
      <p:sp>
        <p:nvSpPr>
          <p:cNvPr id="69" name="Shape 67"/>
          <p:cNvSpPr/>
          <p:nvPr/>
        </p:nvSpPr>
        <p:spPr>
          <a:xfrm>
            <a:off x="4274820" y="1874520"/>
            <a:ext cx="347472" cy="292608"/>
          </a:xfrm>
          <a:prstGeom prst="roundRect">
            <a:avLst>
              <a:gd name="adj" fmla="val 9375"/>
            </a:avLst>
          </a:prstGeom>
          <a:solidFill>
            <a:srgbClr val="1E293B"/>
          </a:solidFill>
          <a:ln/>
        </p:spPr>
      </p:sp>
      <p:sp>
        <p:nvSpPr>
          <p:cNvPr id="70" name="Shape 68"/>
          <p:cNvSpPr/>
          <p:nvPr/>
        </p:nvSpPr>
        <p:spPr>
          <a:xfrm>
            <a:off x="4274820" y="2208276"/>
            <a:ext cx="347472" cy="292608"/>
          </a:xfrm>
          <a:prstGeom prst="roundRect">
            <a:avLst>
              <a:gd name="adj" fmla="val 9375"/>
            </a:avLst>
          </a:prstGeom>
          <a:solidFill>
            <a:srgbClr val="15A46A"/>
          </a:solidFill>
          <a:ln/>
        </p:spPr>
      </p:sp>
      <p:sp>
        <p:nvSpPr>
          <p:cNvPr id="71" name="Shape 69"/>
          <p:cNvSpPr/>
          <p:nvPr/>
        </p:nvSpPr>
        <p:spPr>
          <a:xfrm>
            <a:off x="4274820" y="2542032"/>
            <a:ext cx="347472" cy="292608"/>
          </a:xfrm>
          <a:prstGeom prst="roundRect">
            <a:avLst>
              <a:gd name="adj" fmla="val 9375"/>
            </a:avLst>
          </a:prstGeom>
          <a:solidFill>
            <a:srgbClr val="1BE383"/>
          </a:solidFill>
          <a:ln/>
        </p:spPr>
      </p:sp>
      <p:sp>
        <p:nvSpPr>
          <p:cNvPr id="72" name="Shape 70"/>
          <p:cNvSpPr/>
          <p:nvPr/>
        </p:nvSpPr>
        <p:spPr>
          <a:xfrm>
            <a:off x="4274820" y="2875788"/>
            <a:ext cx="347472" cy="292608"/>
          </a:xfrm>
          <a:prstGeom prst="roundRect">
            <a:avLst>
              <a:gd name="adj" fmla="val 9375"/>
            </a:avLst>
          </a:prstGeom>
          <a:solidFill>
            <a:srgbClr val="1E293B"/>
          </a:solidFill>
          <a:ln/>
        </p:spPr>
      </p:sp>
      <p:sp>
        <p:nvSpPr>
          <p:cNvPr id="73" name="Shape 71"/>
          <p:cNvSpPr/>
          <p:nvPr/>
        </p:nvSpPr>
        <p:spPr>
          <a:xfrm>
            <a:off x="4274820" y="3209544"/>
            <a:ext cx="347472" cy="292608"/>
          </a:xfrm>
          <a:prstGeom prst="roundRect">
            <a:avLst>
              <a:gd name="adj" fmla="val 9375"/>
            </a:avLst>
          </a:prstGeom>
          <a:solidFill>
            <a:srgbClr val="1BE383"/>
          </a:solidFill>
          <a:ln/>
        </p:spPr>
      </p:sp>
      <p:sp>
        <p:nvSpPr>
          <p:cNvPr id="74" name="Shape 72"/>
          <p:cNvSpPr/>
          <p:nvPr/>
        </p:nvSpPr>
        <p:spPr>
          <a:xfrm>
            <a:off x="4274820" y="3543300"/>
            <a:ext cx="347472" cy="292608"/>
          </a:xfrm>
          <a:prstGeom prst="roundRect">
            <a:avLst>
              <a:gd name="adj" fmla="val 9375"/>
            </a:avLst>
          </a:prstGeom>
          <a:solidFill>
            <a:srgbClr val="1E293B"/>
          </a:solidFill>
          <a:ln/>
        </p:spPr>
      </p:sp>
      <p:sp>
        <p:nvSpPr>
          <p:cNvPr id="75" name="Shape 73"/>
          <p:cNvSpPr/>
          <p:nvPr/>
        </p:nvSpPr>
        <p:spPr>
          <a:xfrm>
            <a:off x="4274820" y="3877056"/>
            <a:ext cx="347472" cy="292608"/>
          </a:xfrm>
          <a:prstGeom prst="roundRect">
            <a:avLst>
              <a:gd name="adj" fmla="val 9375"/>
            </a:avLst>
          </a:prstGeom>
          <a:solidFill>
            <a:srgbClr val="1BE383"/>
          </a:solidFill>
          <a:ln/>
        </p:spPr>
      </p:sp>
      <p:sp>
        <p:nvSpPr>
          <p:cNvPr id="76" name="Shape 74"/>
          <p:cNvSpPr/>
          <p:nvPr/>
        </p:nvSpPr>
        <p:spPr>
          <a:xfrm>
            <a:off x="4663440" y="1874520"/>
            <a:ext cx="347472" cy="292608"/>
          </a:xfrm>
          <a:prstGeom prst="roundRect">
            <a:avLst>
              <a:gd name="adj" fmla="val 9375"/>
            </a:avLst>
          </a:prstGeom>
          <a:solidFill>
            <a:srgbClr val="1BE383"/>
          </a:solidFill>
          <a:ln/>
        </p:spPr>
      </p:sp>
      <p:sp>
        <p:nvSpPr>
          <p:cNvPr id="77" name="Shape 75"/>
          <p:cNvSpPr/>
          <p:nvPr/>
        </p:nvSpPr>
        <p:spPr>
          <a:xfrm>
            <a:off x="4663440" y="2208276"/>
            <a:ext cx="347472" cy="292608"/>
          </a:xfrm>
          <a:prstGeom prst="roundRect">
            <a:avLst>
              <a:gd name="adj" fmla="val 9375"/>
            </a:avLst>
          </a:prstGeom>
          <a:solidFill>
            <a:srgbClr val="1E293B"/>
          </a:solidFill>
          <a:ln/>
        </p:spPr>
      </p:sp>
      <p:sp>
        <p:nvSpPr>
          <p:cNvPr id="78" name="Shape 76"/>
          <p:cNvSpPr/>
          <p:nvPr/>
        </p:nvSpPr>
        <p:spPr>
          <a:xfrm>
            <a:off x="4663440" y="2542032"/>
            <a:ext cx="347472" cy="292608"/>
          </a:xfrm>
          <a:prstGeom prst="roundRect">
            <a:avLst>
              <a:gd name="adj" fmla="val 9375"/>
            </a:avLst>
          </a:prstGeom>
          <a:solidFill>
            <a:srgbClr val="10744F"/>
          </a:solidFill>
          <a:ln/>
        </p:spPr>
      </p:sp>
      <p:sp>
        <p:nvSpPr>
          <p:cNvPr id="79" name="Shape 77"/>
          <p:cNvSpPr/>
          <p:nvPr/>
        </p:nvSpPr>
        <p:spPr>
          <a:xfrm>
            <a:off x="4663440" y="2875788"/>
            <a:ext cx="347472" cy="292608"/>
          </a:xfrm>
          <a:prstGeom prst="roundRect">
            <a:avLst>
              <a:gd name="adj" fmla="val 9375"/>
            </a:avLst>
          </a:prstGeom>
          <a:solidFill>
            <a:srgbClr val="0B4A38"/>
          </a:solidFill>
          <a:ln/>
        </p:spPr>
      </p:sp>
      <p:sp>
        <p:nvSpPr>
          <p:cNvPr id="80" name="Shape 78"/>
          <p:cNvSpPr/>
          <p:nvPr/>
        </p:nvSpPr>
        <p:spPr>
          <a:xfrm>
            <a:off x="4663440" y="3209544"/>
            <a:ext cx="347472" cy="292608"/>
          </a:xfrm>
          <a:prstGeom prst="roundRect">
            <a:avLst>
              <a:gd name="adj" fmla="val 9375"/>
            </a:avLst>
          </a:prstGeom>
          <a:solidFill>
            <a:srgbClr val="0B4A38"/>
          </a:solidFill>
          <a:ln/>
        </p:spPr>
      </p:sp>
      <p:sp>
        <p:nvSpPr>
          <p:cNvPr id="81" name="Shape 79"/>
          <p:cNvSpPr/>
          <p:nvPr/>
        </p:nvSpPr>
        <p:spPr>
          <a:xfrm>
            <a:off x="4663440" y="3543300"/>
            <a:ext cx="347472" cy="292608"/>
          </a:xfrm>
          <a:prstGeom prst="roundRect">
            <a:avLst>
              <a:gd name="adj" fmla="val 9375"/>
            </a:avLst>
          </a:prstGeom>
          <a:solidFill>
            <a:srgbClr val="1BE383"/>
          </a:solidFill>
          <a:ln/>
        </p:spPr>
      </p:sp>
      <p:sp>
        <p:nvSpPr>
          <p:cNvPr id="82" name="Shape 80"/>
          <p:cNvSpPr/>
          <p:nvPr/>
        </p:nvSpPr>
        <p:spPr>
          <a:xfrm>
            <a:off x="4663440" y="3877056"/>
            <a:ext cx="347472" cy="292608"/>
          </a:xfrm>
          <a:prstGeom prst="roundRect">
            <a:avLst>
              <a:gd name="adj" fmla="val 9375"/>
            </a:avLst>
          </a:prstGeom>
          <a:solidFill>
            <a:srgbClr val="0B4A38"/>
          </a:solidFill>
          <a:ln/>
        </p:spPr>
      </p:sp>
      <p:sp>
        <p:nvSpPr>
          <p:cNvPr id="83" name="Shape 81"/>
          <p:cNvSpPr/>
          <p:nvPr/>
        </p:nvSpPr>
        <p:spPr>
          <a:xfrm>
            <a:off x="5052060" y="1874520"/>
            <a:ext cx="347472" cy="292608"/>
          </a:xfrm>
          <a:prstGeom prst="roundRect">
            <a:avLst>
              <a:gd name="adj" fmla="val 9375"/>
            </a:avLst>
          </a:prstGeom>
          <a:solidFill>
            <a:srgbClr val="0B4A38"/>
          </a:solidFill>
          <a:ln/>
        </p:spPr>
      </p:sp>
      <p:sp>
        <p:nvSpPr>
          <p:cNvPr id="84" name="Shape 82"/>
          <p:cNvSpPr/>
          <p:nvPr/>
        </p:nvSpPr>
        <p:spPr>
          <a:xfrm>
            <a:off x="5052060" y="2208276"/>
            <a:ext cx="347472" cy="292608"/>
          </a:xfrm>
          <a:prstGeom prst="roundRect">
            <a:avLst>
              <a:gd name="adj" fmla="val 9375"/>
            </a:avLst>
          </a:prstGeom>
          <a:solidFill>
            <a:srgbClr val="10744F"/>
          </a:solidFill>
          <a:ln/>
        </p:spPr>
      </p:sp>
      <p:sp>
        <p:nvSpPr>
          <p:cNvPr id="85" name="Shape 83"/>
          <p:cNvSpPr/>
          <p:nvPr/>
        </p:nvSpPr>
        <p:spPr>
          <a:xfrm>
            <a:off x="5052060" y="2542032"/>
            <a:ext cx="347472" cy="292608"/>
          </a:xfrm>
          <a:prstGeom prst="roundRect">
            <a:avLst>
              <a:gd name="adj" fmla="val 9375"/>
            </a:avLst>
          </a:prstGeom>
          <a:solidFill>
            <a:srgbClr val="1BE383"/>
          </a:solidFill>
          <a:ln/>
        </p:spPr>
      </p:sp>
      <p:sp>
        <p:nvSpPr>
          <p:cNvPr id="86" name="Shape 84"/>
          <p:cNvSpPr/>
          <p:nvPr/>
        </p:nvSpPr>
        <p:spPr>
          <a:xfrm>
            <a:off x="5052060" y="2875788"/>
            <a:ext cx="347472" cy="292608"/>
          </a:xfrm>
          <a:prstGeom prst="roundRect">
            <a:avLst>
              <a:gd name="adj" fmla="val 9375"/>
            </a:avLst>
          </a:prstGeom>
          <a:solidFill>
            <a:srgbClr val="1BE383"/>
          </a:solidFill>
          <a:ln/>
        </p:spPr>
      </p:sp>
      <p:sp>
        <p:nvSpPr>
          <p:cNvPr id="87" name="Shape 85"/>
          <p:cNvSpPr/>
          <p:nvPr/>
        </p:nvSpPr>
        <p:spPr>
          <a:xfrm>
            <a:off x="5052060" y="3209544"/>
            <a:ext cx="347472" cy="292608"/>
          </a:xfrm>
          <a:prstGeom prst="roundRect">
            <a:avLst>
              <a:gd name="adj" fmla="val 9375"/>
            </a:avLst>
          </a:prstGeom>
          <a:solidFill>
            <a:srgbClr val="10744F"/>
          </a:solidFill>
          <a:ln/>
        </p:spPr>
      </p:sp>
      <p:sp>
        <p:nvSpPr>
          <p:cNvPr id="88" name="Shape 86"/>
          <p:cNvSpPr/>
          <p:nvPr/>
        </p:nvSpPr>
        <p:spPr>
          <a:xfrm>
            <a:off x="5052060" y="3543300"/>
            <a:ext cx="347472" cy="292608"/>
          </a:xfrm>
          <a:prstGeom prst="roundRect">
            <a:avLst>
              <a:gd name="adj" fmla="val 9375"/>
            </a:avLst>
          </a:prstGeom>
          <a:solidFill>
            <a:srgbClr val="1BE383"/>
          </a:solidFill>
          <a:ln/>
        </p:spPr>
      </p:sp>
      <p:sp>
        <p:nvSpPr>
          <p:cNvPr id="89" name="Shape 87"/>
          <p:cNvSpPr/>
          <p:nvPr/>
        </p:nvSpPr>
        <p:spPr>
          <a:xfrm>
            <a:off x="5052060" y="3877056"/>
            <a:ext cx="347472" cy="292608"/>
          </a:xfrm>
          <a:prstGeom prst="roundRect">
            <a:avLst>
              <a:gd name="adj" fmla="val 9375"/>
            </a:avLst>
          </a:prstGeom>
          <a:solidFill>
            <a:srgbClr val="0B4A38"/>
          </a:solidFill>
          <a:ln/>
        </p:spPr>
      </p:sp>
      <p:sp>
        <p:nvSpPr>
          <p:cNvPr id="90" name="Shape 88"/>
          <p:cNvSpPr/>
          <p:nvPr/>
        </p:nvSpPr>
        <p:spPr>
          <a:xfrm>
            <a:off x="5440680" y="1874520"/>
            <a:ext cx="347472" cy="292608"/>
          </a:xfrm>
          <a:prstGeom prst="roundRect">
            <a:avLst>
              <a:gd name="adj" fmla="val 9375"/>
            </a:avLst>
          </a:prstGeom>
          <a:solidFill>
            <a:srgbClr val="1E293B"/>
          </a:solidFill>
          <a:ln/>
        </p:spPr>
      </p:sp>
      <p:sp>
        <p:nvSpPr>
          <p:cNvPr id="91" name="Shape 89"/>
          <p:cNvSpPr/>
          <p:nvPr/>
        </p:nvSpPr>
        <p:spPr>
          <a:xfrm>
            <a:off x="5440680" y="2208276"/>
            <a:ext cx="347472" cy="292608"/>
          </a:xfrm>
          <a:prstGeom prst="roundRect">
            <a:avLst>
              <a:gd name="adj" fmla="val 9375"/>
            </a:avLst>
          </a:prstGeom>
          <a:solidFill>
            <a:srgbClr val="0B4A38"/>
          </a:solidFill>
          <a:ln/>
        </p:spPr>
      </p:sp>
      <p:sp>
        <p:nvSpPr>
          <p:cNvPr id="92" name="Shape 90"/>
          <p:cNvSpPr/>
          <p:nvPr/>
        </p:nvSpPr>
        <p:spPr>
          <a:xfrm>
            <a:off x="5440680" y="2542032"/>
            <a:ext cx="347472" cy="292608"/>
          </a:xfrm>
          <a:prstGeom prst="roundRect">
            <a:avLst>
              <a:gd name="adj" fmla="val 9375"/>
            </a:avLst>
          </a:prstGeom>
          <a:solidFill>
            <a:srgbClr val="0B4A38"/>
          </a:solidFill>
          <a:ln/>
        </p:spPr>
      </p:sp>
      <p:sp>
        <p:nvSpPr>
          <p:cNvPr id="93" name="Shape 91"/>
          <p:cNvSpPr/>
          <p:nvPr/>
        </p:nvSpPr>
        <p:spPr>
          <a:xfrm>
            <a:off x="5440680" y="2875788"/>
            <a:ext cx="347472" cy="292608"/>
          </a:xfrm>
          <a:prstGeom prst="roundRect">
            <a:avLst>
              <a:gd name="adj" fmla="val 9375"/>
            </a:avLst>
          </a:prstGeom>
          <a:solidFill>
            <a:srgbClr val="0B4A38"/>
          </a:solidFill>
          <a:ln/>
        </p:spPr>
      </p:sp>
      <p:sp>
        <p:nvSpPr>
          <p:cNvPr id="94" name="Shape 92"/>
          <p:cNvSpPr/>
          <p:nvPr/>
        </p:nvSpPr>
        <p:spPr>
          <a:xfrm>
            <a:off x="5440680" y="3209544"/>
            <a:ext cx="347472" cy="292608"/>
          </a:xfrm>
          <a:prstGeom prst="roundRect">
            <a:avLst>
              <a:gd name="adj" fmla="val 9375"/>
            </a:avLst>
          </a:prstGeom>
          <a:solidFill>
            <a:srgbClr val="0B4A38"/>
          </a:solidFill>
          <a:ln/>
        </p:spPr>
      </p:sp>
      <p:sp>
        <p:nvSpPr>
          <p:cNvPr id="95" name="Shape 93"/>
          <p:cNvSpPr/>
          <p:nvPr/>
        </p:nvSpPr>
        <p:spPr>
          <a:xfrm>
            <a:off x="5440680" y="3543300"/>
            <a:ext cx="347472" cy="292608"/>
          </a:xfrm>
          <a:prstGeom prst="roundRect">
            <a:avLst>
              <a:gd name="adj" fmla="val 9375"/>
            </a:avLst>
          </a:prstGeom>
          <a:solidFill>
            <a:srgbClr val="1E293B"/>
          </a:solidFill>
          <a:ln/>
        </p:spPr>
      </p:sp>
      <p:sp>
        <p:nvSpPr>
          <p:cNvPr id="96" name="Shape 94"/>
          <p:cNvSpPr/>
          <p:nvPr/>
        </p:nvSpPr>
        <p:spPr>
          <a:xfrm>
            <a:off x="5440680" y="3877056"/>
            <a:ext cx="347472" cy="292608"/>
          </a:xfrm>
          <a:prstGeom prst="roundRect">
            <a:avLst>
              <a:gd name="adj" fmla="val 9375"/>
            </a:avLst>
          </a:prstGeom>
          <a:solidFill>
            <a:srgbClr val="0B4A38"/>
          </a:solidFill>
          <a:ln/>
        </p:spPr>
      </p:sp>
      <p:sp>
        <p:nvSpPr>
          <p:cNvPr id="97" name="Text 95"/>
          <p:cNvSpPr/>
          <p:nvPr/>
        </p:nvSpPr>
        <p:spPr>
          <a:xfrm>
            <a:off x="777240" y="4320540"/>
            <a:ext cx="548640" cy="228600"/>
          </a:xfrm>
          <a:prstGeom prst="rect">
            <a:avLst/>
          </a:prstGeom>
          <a:noFill/>
          <a:ln/>
        </p:spPr>
        <p:txBody>
          <a:bodyPr wrap="square" rtlCol="0" anchor="ctr"/>
          <a:lstStyle/>
          <a:p>
            <a:pPr marL="0" indent="0">
              <a:buNone/>
            </a:pPr>
            <a:r>
              <a:rPr lang="en-US" sz="900" dirty="0">
                <a:solidFill>
                  <a:srgbClr val="94A3B8"/>
                </a:solidFill>
              </a:rPr>
              <a:t>Less</a:t>
            </a:r>
            <a:endParaRPr lang="en-US" sz="900" dirty="0"/>
          </a:p>
        </p:txBody>
      </p:sp>
      <p:sp>
        <p:nvSpPr>
          <p:cNvPr id="98" name="Text 96"/>
          <p:cNvSpPr/>
          <p:nvPr/>
        </p:nvSpPr>
        <p:spPr>
          <a:xfrm>
            <a:off x="5257800" y="4320540"/>
            <a:ext cx="548640" cy="228600"/>
          </a:xfrm>
          <a:prstGeom prst="rect">
            <a:avLst/>
          </a:prstGeom>
          <a:noFill/>
          <a:ln/>
        </p:spPr>
        <p:txBody>
          <a:bodyPr wrap="square" rtlCol="0" anchor="ctr"/>
          <a:lstStyle/>
          <a:p>
            <a:pPr marL="0" indent="0">
              <a:buNone/>
            </a:pPr>
            <a:r>
              <a:rPr lang="en-US" sz="900" dirty="0">
                <a:solidFill>
                  <a:srgbClr val="94A3B8"/>
                </a:solidFill>
              </a:rPr>
              <a:t>More</a:t>
            </a:r>
            <a:endParaRPr lang="en-US" sz="900" dirty="0"/>
          </a:p>
        </p:txBody>
      </p:sp>
      <p:sp>
        <p:nvSpPr>
          <p:cNvPr id="99" name="Shape 97"/>
          <p:cNvSpPr/>
          <p:nvPr/>
        </p:nvSpPr>
        <p:spPr>
          <a:xfrm>
            <a:off x="6766560" y="1188720"/>
            <a:ext cx="1554480" cy="1188720"/>
          </a:xfrm>
          <a:prstGeom prst="roundRect">
            <a:avLst>
              <a:gd name="adj" fmla="val 6154"/>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100" name="Text 98"/>
          <p:cNvSpPr/>
          <p:nvPr/>
        </p:nvSpPr>
        <p:spPr>
          <a:xfrm>
            <a:off x="6766560" y="1298448"/>
            <a:ext cx="1554480" cy="548640"/>
          </a:xfrm>
          <a:prstGeom prst="rect">
            <a:avLst/>
          </a:prstGeom>
          <a:noFill/>
          <a:ln/>
        </p:spPr>
        <p:txBody>
          <a:bodyPr wrap="square" rtlCol="0" anchor="ctr"/>
          <a:lstStyle/>
          <a:p>
            <a:pPr marL="0" indent="0" algn="ctr">
              <a:buNone/>
            </a:pPr>
            <a:r>
              <a:rPr lang="en-US" sz="2600" b="1" dirty="0">
                <a:solidFill>
                  <a:srgbClr val="22D3EE"/>
                </a:solidFill>
              </a:rPr>
              <a:t>312</a:t>
            </a:r>
            <a:endParaRPr lang="en-US" sz="2600" dirty="0"/>
          </a:p>
        </p:txBody>
      </p:sp>
      <p:sp>
        <p:nvSpPr>
          <p:cNvPr id="101" name="Text 99"/>
          <p:cNvSpPr/>
          <p:nvPr/>
        </p:nvSpPr>
        <p:spPr>
          <a:xfrm>
            <a:off x="6766560" y="1828800"/>
            <a:ext cx="1554480" cy="457200"/>
          </a:xfrm>
          <a:prstGeom prst="rect">
            <a:avLst/>
          </a:prstGeom>
          <a:noFill/>
          <a:ln/>
        </p:spPr>
        <p:txBody>
          <a:bodyPr wrap="square" rtlCol="0" anchor="ctr"/>
          <a:lstStyle/>
          <a:p>
            <a:pPr marL="0" indent="0" algn="ctr">
              <a:buNone/>
            </a:pPr>
            <a:r>
              <a:rPr lang="en-US" sz="1000" dirty="0">
                <a:solidFill>
                  <a:srgbClr val="94A3B8"/>
                </a:solidFill>
              </a:rPr>
              <a:t>Total Solved</a:t>
            </a:r>
            <a:endParaRPr lang="en-US" sz="1000" dirty="0"/>
          </a:p>
        </p:txBody>
      </p:sp>
      <p:sp>
        <p:nvSpPr>
          <p:cNvPr id="102" name="Shape 100"/>
          <p:cNvSpPr/>
          <p:nvPr/>
        </p:nvSpPr>
        <p:spPr>
          <a:xfrm>
            <a:off x="8458200" y="1188720"/>
            <a:ext cx="1554480" cy="1188720"/>
          </a:xfrm>
          <a:prstGeom prst="roundRect">
            <a:avLst>
              <a:gd name="adj" fmla="val 6154"/>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103" name="Text 101"/>
          <p:cNvSpPr/>
          <p:nvPr/>
        </p:nvSpPr>
        <p:spPr>
          <a:xfrm>
            <a:off x="8458200" y="1298448"/>
            <a:ext cx="1554480" cy="548640"/>
          </a:xfrm>
          <a:prstGeom prst="rect">
            <a:avLst/>
          </a:prstGeom>
          <a:noFill/>
          <a:ln/>
        </p:spPr>
        <p:txBody>
          <a:bodyPr wrap="square" rtlCol="0" anchor="ctr"/>
          <a:lstStyle/>
          <a:p>
            <a:pPr marL="0" indent="0" algn="ctr">
              <a:buNone/>
            </a:pPr>
            <a:r>
              <a:rPr lang="en-US" sz="2600" b="1" dirty="0">
                <a:solidFill>
                  <a:srgbClr val="34D399"/>
                </a:solidFill>
              </a:rPr>
              <a:t>5</a:t>
            </a:r>
            <a:endParaRPr lang="en-US" sz="2600" dirty="0"/>
          </a:p>
        </p:txBody>
      </p:sp>
      <p:sp>
        <p:nvSpPr>
          <p:cNvPr id="104" name="Text 102"/>
          <p:cNvSpPr/>
          <p:nvPr/>
        </p:nvSpPr>
        <p:spPr>
          <a:xfrm>
            <a:off x="8458200" y="1828800"/>
            <a:ext cx="1554480" cy="457200"/>
          </a:xfrm>
          <a:prstGeom prst="rect">
            <a:avLst/>
          </a:prstGeom>
          <a:noFill/>
          <a:ln/>
        </p:spPr>
        <p:txBody>
          <a:bodyPr wrap="square" rtlCol="0" anchor="ctr"/>
          <a:lstStyle/>
          <a:p>
            <a:pPr marL="0" indent="0" algn="ctr">
              <a:buNone/>
            </a:pPr>
            <a:r>
              <a:rPr lang="en-US" sz="1000" dirty="0">
                <a:solidFill>
                  <a:srgbClr val="94A3B8"/>
                </a:solidFill>
              </a:rPr>
              <a:t>Solved Today</a:t>
            </a:r>
            <a:endParaRPr lang="en-US" sz="1000" dirty="0"/>
          </a:p>
        </p:txBody>
      </p:sp>
      <p:sp>
        <p:nvSpPr>
          <p:cNvPr id="105" name="Shape 103"/>
          <p:cNvSpPr/>
          <p:nvPr/>
        </p:nvSpPr>
        <p:spPr>
          <a:xfrm>
            <a:off x="10149840" y="1188720"/>
            <a:ext cx="1554480" cy="1188720"/>
          </a:xfrm>
          <a:prstGeom prst="roundRect">
            <a:avLst>
              <a:gd name="adj" fmla="val 6154"/>
            </a:avLst>
          </a:prstGeom>
          <a:solidFill>
            <a:srgbClr val="111827"/>
          </a:solidFill>
          <a:ln w="12700">
            <a:solidFill>
              <a:srgbClr val="1E293B"/>
            </a:solidFill>
            <a:prstDash val="solid"/>
          </a:ln>
          <a:effectLst>
            <a:outerShdw blurRad="101600" dist="38100" dir="2700000" algn="bl" rotWithShape="0">
              <a:srgbClr val="000000">
                <a:alpha val="35000"/>
              </a:srgbClr>
            </a:outerShdw>
          </a:effectLst>
        </p:spPr>
      </p:sp>
      <p:sp>
        <p:nvSpPr>
          <p:cNvPr id="106" name="Text 104"/>
          <p:cNvSpPr/>
          <p:nvPr/>
        </p:nvSpPr>
        <p:spPr>
          <a:xfrm>
            <a:off x="10149840" y="1298448"/>
            <a:ext cx="1554480" cy="548640"/>
          </a:xfrm>
          <a:prstGeom prst="rect">
            <a:avLst/>
          </a:prstGeom>
          <a:noFill/>
          <a:ln/>
        </p:spPr>
        <p:txBody>
          <a:bodyPr wrap="square" rtlCol="0" anchor="ctr"/>
          <a:lstStyle/>
          <a:p>
            <a:pPr marL="0" indent="0" algn="ctr">
              <a:buNone/>
            </a:pPr>
            <a:r>
              <a:rPr lang="en-US" sz="2600" b="1" dirty="0">
                <a:solidFill>
                  <a:srgbClr val="FBBF24"/>
                </a:solidFill>
              </a:rPr>
              <a:t>18</a:t>
            </a:r>
            <a:endParaRPr lang="en-US" sz="2600" dirty="0"/>
          </a:p>
        </p:txBody>
      </p:sp>
      <p:sp>
        <p:nvSpPr>
          <p:cNvPr id="107" name="Text 105"/>
          <p:cNvSpPr/>
          <p:nvPr/>
        </p:nvSpPr>
        <p:spPr>
          <a:xfrm>
            <a:off x="10149840" y="1828800"/>
            <a:ext cx="1554480" cy="457200"/>
          </a:xfrm>
          <a:prstGeom prst="rect">
            <a:avLst/>
          </a:prstGeom>
          <a:noFill/>
          <a:ln/>
        </p:spPr>
        <p:txBody>
          <a:bodyPr wrap="square" rtlCol="0" anchor="ctr"/>
          <a:lstStyle/>
          <a:p>
            <a:pPr marL="0" indent="0" algn="ctr">
              <a:buNone/>
            </a:pPr>
            <a:r>
              <a:rPr lang="en-US" sz="1000" dirty="0">
                <a:solidFill>
                  <a:srgbClr val="94A3B8"/>
                </a:solidFill>
              </a:rPr>
              <a:t>Due Reviews</a:t>
            </a:r>
            <a:endParaRPr lang="en-US" sz="1000" dirty="0"/>
          </a:p>
        </p:txBody>
      </p:sp>
      <p:sp>
        <p:nvSpPr>
          <p:cNvPr id="108" name="Text 106"/>
          <p:cNvSpPr/>
          <p:nvPr/>
        </p:nvSpPr>
        <p:spPr>
          <a:xfrm>
            <a:off x="6766560" y="2606040"/>
            <a:ext cx="4937760" cy="228600"/>
          </a:xfrm>
          <a:prstGeom prst="rect">
            <a:avLst/>
          </a:prstGeom>
          <a:noFill/>
          <a:ln/>
        </p:spPr>
        <p:txBody>
          <a:bodyPr wrap="square" rtlCol="0" anchor="ctr"/>
          <a:lstStyle/>
          <a:p>
            <a:pPr marL="0" indent="0">
              <a:buNone/>
            </a:pPr>
            <a:r>
              <a:rPr lang="en-US" sz="1100" dirty="0">
                <a:solidFill>
                  <a:srgbClr val="E2E8F0"/>
                </a:solidFill>
              </a:rPr>
              <a:t>Easy</a:t>
            </a:r>
            <a:endParaRPr lang="en-US" sz="1100" dirty="0"/>
          </a:p>
        </p:txBody>
      </p:sp>
      <p:sp>
        <p:nvSpPr>
          <p:cNvPr id="109" name="Shape 107"/>
          <p:cNvSpPr/>
          <p:nvPr/>
        </p:nvSpPr>
        <p:spPr>
          <a:xfrm>
            <a:off x="6766560" y="2862072"/>
            <a:ext cx="4937760" cy="164592"/>
          </a:xfrm>
          <a:prstGeom prst="roundRect">
            <a:avLst>
              <a:gd name="adj" fmla="val 50000"/>
            </a:avLst>
          </a:prstGeom>
          <a:solidFill>
            <a:srgbClr val="111827"/>
          </a:solidFill>
          <a:ln/>
        </p:spPr>
      </p:sp>
      <p:sp>
        <p:nvSpPr>
          <p:cNvPr id="110" name="Shape 108"/>
          <p:cNvSpPr/>
          <p:nvPr/>
        </p:nvSpPr>
        <p:spPr>
          <a:xfrm>
            <a:off x="6766560" y="2862072"/>
            <a:ext cx="3950208" cy="164592"/>
          </a:xfrm>
          <a:prstGeom prst="roundRect">
            <a:avLst>
              <a:gd name="adj" fmla="val 50000"/>
            </a:avLst>
          </a:prstGeom>
          <a:solidFill>
            <a:srgbClr val="34D399"/>
          </a:solidFill>
          <a:ln/>
        </p:spPr>
      </p:sp>
      <p:sp>
        <p:nvSpPr>
          <p:cNvPr id="111" name="Text 109"/>
          <p:cNvSpPr/>
          <p:nvPr/>
        </p:nvSpPr>
        <p:spPr>
          <a:xfrm>
            <a:off x="6766560" y="3291840"/>
            <a:ext cx="4937760" cy="228600"/>
          </a:xfrm>
          <a:prstGeom prst="rect">
            <a:avLst/>
          </a:prstGeom>
          <a:noFill/>
          <a:ln/>
        </p:spPr>
        <p:txBody>
          <a:bodyPr wrap="square" rtlCol="0" anchor="ctr"/>
          <a:lstStyle/>
          <a:p>
            <a:pPr marL="0" indent="0">
              <a:buNone/>
            </a:pPr>
            <a:r>
              <a:rPr lang="en-US" sz="1100" dirty="0">
                <a:solidFill>
                  <a:srgbClr val="E2E8F0"/>
                </a:solidFill>
              </a:rPr>
              <a:t>Medium</a:t>
            </a:r>
            <a:endParaRPr lang="en-US" sz="1100" dirty="0"/>
          </a:p>
        </p:txBody>
      </p:sp>
      <p:sp>
        <p:nvSpPr>
          <p:cNvPr id="112" name="Shape 110"/>
          <p:cNvSpPr/>
          <p:nvPr/>
        </p:nvSpPr>
        <p:spPr>
          <a:xfrm>
            <a:off x="6766560" y="3547872"/>
            <a:ext cx="4937760" cy="164592"/>
          </a:xfrm>
          <a:prstGeom prst="roundRect">
            <a:avLst>
              <a:gd name="adj" fmla="val 50000"/>
            </a:avLst>
          </a:prstGeom>
          <a:solidFill>
            <a:srgbClr val="111827"/>
          </a:solidFill>
          <a:ln/>
        </p:spPr>
      </p:sp>
      <p:sp>
        <p:nvSpPr>
          <p:cNvPr id="113" name="Shape 111"/>
          <p:cNvSpPr/>
          <p:nvPr/>
        </p:nvSpPr>
        <p:spPr>
          <a:xfrm>
            <a:off x="6766560" y="3547872"/>
            <a:ext cx="2715768" cy="164592"/>
          </a:xfrm>
          <a:prstGeom prst="roundRect">
            <a:avLst>
              <a:gd name="adj" fmla="val 50000"/>
            </a:avLst>
          </a:prstGeom>
          <a:solidFill>
            <a:srgbClr val="FBBF24"/>
          </a:solidFill>
          <a:ln/>
        </p:spPr>
      </p:sp>
      <p:sp>
        <p:nvSpPr>
          <p:cNvPr id="114" name="Text 112"/>
          <p:cNvSpPr/>
          <p:nvPr/>
        </p:nvSpPr>
        <p:spPr>
          <a:xfrm>
            <a:off x="6766560" y="3977640"/>
            <a:ext cx="4937760" cy="228600"/>
          </a:xfrm>
          <a:prstGeom prst="rect">
            <a:avLst/>
          </a:prstGeom>
          <a:noFill/>
          <a:ln/>
        </p:spPr>
        <p:txBody>
          <a:bodyPr wrap="square" rtlCol="0" anchor="ctr"/>
          <a:lstStyle/>
          <a:p>
            <a:pPr marL="0" indent="0">
              <a:buNone/>
            </a:pPr>
            <a:r>
              <a:rPr lang="en-US" sz="1100" dirty="0">
                <a:solidFill>
                  <a:srgbClr val="E2E8F0"/>
                </a:solidFill>
              </a:rPr>
              <a:t>Hard</a:t>
            </a:r>
            <a:endParaRPr lang="en-US" sz="1100" dirty="0"/>
          </a:p>
        </p:txBody>
      </p:sp>
      <p:sp>
        <p:nvSpPr>
          <p:cNvPr id="115" name="Shape 113"/>
          <p:cNvSpPr/>
          <p:nvPr/>
        </p:nvSpPr>
        <p:spPr>
          <a:xfrm>
            <a:off x="6766560" y="4233672"/>
            <a:ext cx="4937760" cy="164592"/>
          </a:xfrm>
          <a:prstGeom prst="roundRect">
            <a:avLst>
              <a:gd name="adj" fmla="val 50000"/>
            </a:avLst>
          </a:prstGeom>
          <a:solidFill>
            <a:srgbClr val="111827"/>
          </a:solidFill>
          <a:ln/>
        </p:spPr>
      </p:sp>
      <p:sp>
        <p:nvSpPr>
          <p:cNvPr id="116" name="Shape 114"/>
          <p:cNvSpPr/>
          <p:nvPr/>
        </p:nvSpPr>
        <p:spPr>
          <a:xfrm>
            <a:off x="6766560" y="4233672"/>
            <a:ext cx="1481328" cy="164592"/>
          </a:xfrm>
          <a:prstGeom prst="roundRect">
            <a:avLst>
              <a:gd name="adj" fmla="val 50000"/>
            </a:avLst>
          </a:prstGeom>
          <a:solidFill>
            <a:srgbClr val="FB7185"/>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WORKSPACE</a:t>
            </a:r>
            <a:endParaRPr lang="en-US" sz="1200" dirty="0"/>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Custom Collections &amp; Markdown Notebook</a:t>
            </a:r>
            <a:endParaRPr lang="en-US" sz="3000" dirty="0"/>
          </a:p>
        </p:txBody>
      </p:sp>
      <p:sp>
        <p:nvSpPr>
          <p:cNvPr id="4" name="Shape 2"/>
          <p:cNvSpPr/>
          <p:nvPr/>
        </p:nvSpPr>
        <p:spPr>
          <a:xfrm>
            <a:off x="457200" y="1188720"/>
            <a:ext cx="3657600" cy="3566160"/>
          </a:xfrm>
          <a:prstGeom prst="roundRect">
            <a:avLst>
              <a:gd name="adj" fmla="val 2051"/>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5" name="Shape 3"/>
          <p:cNvSpPr/>
          <p:nvPr/>
        </p:nvSpPr>
        <p:spPr>
          <a:xfrm>
            <a:off x="457200" y="1188720"/>
            <a:ext cx="3657600" cy="914400"/>
          </a:xfrm>
          <a:prstGeom prst="roundRect">
            <a:avLst>
              <a:gd name="adj" fmla="val 8000"/>
            </a:avLst>
          </a:prstGeom>
          <a:solidFill>
            <a:srgbClr val="312E81"/>
          </a:solidFill>
          <a:ln/>
        </p:spPr>
      </p:sp>
      <p:sp>
        <p:nvSpPr>
          <p:cNvPr id="6" name="Text 4"/>
          <p:cNvSpPr/>
          <p:nvPr/>
        </p:nvSpPr>
        <p:spPr>
          <a:xfrm>
            <a:off x="685800" y="1325880"/>
            <a:ext cx="3200400" cy="365760"/>
          </a:xfrm>
          <a:prstGeom prst="rect">
            <a:avLst/>
          </a:prstGeom>
          <a:noFill/>
          <a:ln/>
        </p:spPr>
        <p:txBody>
          <a:bodyPr wrap="square" rtlCol="0" anchor="ctr"/>
          <a:lstStyle/>
          <a:p>
            <a:pPr marL="0" indent="0">
              <a:buNone/>
            </a:pPr>
            <a:r>
              <a:rPr lang="en-US" sz="1800" b="1" dirty="0">
                <a:solidFill>
                  <a:srgbClr val="FFFFFF"/>
                </a:solidFill>
              </a:rPr>
              <a:t>Blind 75</a:t>
            </a:r>
            <a:endParaRPr lang="en-US" sz="1800" dirty="0"/>
          </a:p>
        </p:txBody>
      </p:sp>
      <p:sp>
        <p:nvSpPr>
          <p:cNvPr id="7" name="Text 5"/>
          <p:cNvSpPr/>
          <p:nvPr/>
        </p:nvSpPr>
        <p:spPr>
          <a:xfrm>
            <a:off x="685800" y="1691640"/>
            <a:ext cx="3200400" cy="274320"/>
          </a:xfrm>
          <a:prstGeom prst="rect">
            <a:avLst/>
          </a:prstGeom>
          <a:noFill/>
          <a:ln/>
        </p:spPr>
        <p:txBody>
          <a:bodyPr wrap="square" rtlCol="0" anchor="ctr"/>
          <a:lstStyle/>
          <a:p>
            <a:pPr marL="0" indent="0">
              <a:buNone/>
            </a:pPr>
            <a:r>
              <a:rPr lang="en-US" sz="1000" dirty="0">
                <a:solidFill>
                  <a:srgbClr val="C7D2FE"/>
                </a:solidFill>
              </a:rPr>
              <a:t>Core interview pattern set</a:t>
            </a:r>
            <a:endParaRPr lang="en-US" sz="1000" dirty="0"/>
          </a:p>
        </p:txBody>
      </p:sp>
      <p:sp>
        <p:nvSpPr>
          <p:cNvPr id="8" name="Text 6"/>
          <p:cNvSpPr/>
          <p:nvPr/>
        </p:nvSpPr>
        <p:spPr>
          <a:xfrm>
            <a:off x="685800" y="2286000"/>
            <a:ext cx="3200400" cy="274320"/>
          </a:xfrm>
          <a:prstGeom prst="rect">
            <a:avLst/>
          </a:prstGeom>
          <a:noFill/>
          <a:ln/>
        </p:spPr>
        <p:txBody>
          <a:bodyPr wrap="square" rtlCol="0" anchor="ctr"/>
          <a:lstStyle/>
          <a:p>
            <a:pPr marL="0" indent="0">
              <a:buNone/>
            </a:pPr>
            <a:r>
              <a:rPr lang="en-US" sz="1100" dirty="0">
                <a:solidFill>
                  <a:srgbClr val="E2E8F0"/>
                </a:solidFill>
              </a:rPr>
              <a:t>42 problems  •  68% complete</a:t>
            </a:r>
            <a:endParaRPr lang="en-US" sz="1100" dirty="0"/>
          </a:p>
        </p:txBody>
      </p:sp>
      <p:sp>
        <p:nvSpPr>
          <p:cNvPr id="9" name="Shape 7"/>
          <p:cNvSpPr/>
          <p:nvPr/>
        </p:nvSpPr>
        <p:spPr>
          <a:xfrm>
            <a:off x="685800" y="2697480"/>
            <a:ext cx="502920" cy="502920"/>
          </a:xfrm>
          <a:prstGeom prst="ellipse">
            <a:avLst/>
          </a:prstGeom>
          <a:solidFill>
            <a:srgbClr val="2A2410"/>
          </a:solidFill>
          <a:ln/>
        </p:spPr>
      </p:sp>
      <p:pic>
        <p:nvPicPr>
          <p:cNvPr id="10" name="Image 0" descr="preencoded.png"/>
          <p:cNvPicPr>
            <a:picLocks noChangeAspect="1"/>
          </p:cNvPicPr>
          <p:nvPr/>
        </p:nvPicPr>
        <p:blipFill>
          <a:blip r:embed="rId3"/>
          <a:stretch>
            <a:fillRect/>
          </a:stretch>
        </p:blipFill>
        <p:spPr>
          <a:xfrm>
            <a:off x="806501" y="2818181"/>
            <a:ext cx="261518" cy="261518"/>
          </a:xfrm>
          <a:prstGeom prst="rect">
            <a:avLst/>
          </a:prstGeom>
        </p:spPr>
      </p:pic>
      <p:sp>
        <p:nvSpPr>
          <p:cNvPr id="11" name="Text 8"/>
          <p:cNvSpPr/>
          <p:nvPr/>
        </p:nvSpPr>
        <p:spPr>
          <a:xfrm>
            <a:off x="685800" y="3291840"/>
            <a:ext cx="3200400" cy="274320"/>
          </a:xfrm>
          <a:prstGeom prst="rect">
            <a:avLst/>
          </a:prstGeom>
          <a:noFill/>
          <a:ln/>
        </p:spPr>
        <p:txBody>
          <a:bodyPr wrap="square" rtlCol="0" anchor="ctr"/>
          <a:lstStyle/>
          <a:p>
            <a:pPr marL="0" indent="0">
              <a:buNone/>
            </a:pPr>
            <a:r>
              <a:rPr lang="en-US" sz="1100" dirty="0">
                <a:solidFill>
                  <a:srgbClr val="94A3B8"/>
                </a:solidFill>
              </a:rPr>
              <a:t>Top Interview 150</a:t>
            </a:r>
            <a:endParaRPr lang="en-US" sz="1100" dirty="0"/>
          </a:p>
        </p:txBody>
      </p:sp>
      <p:sp>
        <p:nvSpPr>
          <p:cNvPr id="12" name="Text 9"/>
          <p:cNvSpPr/>
          <p:nvPr/>
        </p:nvSpPr>
        <p:spPr>
          <a:xfrm>
            <a:off x="685800" y="3657600"/>
            <a:ext cx="3200400" cy="914400"/>
          </a:xfrm>
          <a:prstGeom prst="rect">
            <a:avLst/>
          </a:prstGeom>
          <a:noFill/>
          <a:ln/>
        </p:spPr>
        <p:txBody>
          <a:bodyPr wrap="square" rtlCol="0" anchor="ctr"/>
          <a:lstStyle/>
          <a:p>
            <a:pPr marL="0" indent="0">
              <a:buNone/>
            </a:pPr>
            <a:r>
              <a:rPr lang="en-US" sz="1000" dirty="0">
                <a:solidFill>
                  <a:srgbClr val="94A3B8"/>
                </a:solidFill>
              </a:rPr>
              <a:t>Custom color gradients (violet-indigo, emerald-teal) let each list stand apart visually.</a:t>
            </a:r>
            <a:endParaRPr lang="en-US" sz="1000" dirty="0"/>
          </a:p>
        </p:txBody>
      </p:sp>
      <p:sp>
        <p:nvSpPr>
          <p:cNvPr id="13" name="Shape 10"/>
          <p:cNvSpPr/>
          <p:nvPr/>
        </p:nvSpPr>
        <p:spPr>
          <a:xfrm>
            <a:off x="4343400" y="1188720"/>
            <a:ext cx="7388352" cy="3566160"/>
          </a:xfrm>
          <a:prstGeom prst="roundRect">
            <a:avLst>
              <a:gd name="adj" fmla="val 2051"/>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14" name="Text 11"/>
          <p:cNvSpPr/>
          <p:nvPr/>
        </p:nvSpPr>
        <p:spPr>
          <a:xfrm>
            <a:off x="4572000" y="1325880"/>
            <a:ext cx="3291840" cy="274320"/>
          </a:xfrm>
          <a:prstGeom prst="rect">
            <a:avLst/>
          </a:prstGeom>
          <a:noFill/>
          <a:ln/>
        </p:spPr>
        <p:txBody>
          <a:bodyPr wrap="square" rtlCol="0" anchor="ctr"/>
          <a:lstStyle/>
          <a:p>
            <a:pPr marL="0" indent="0">
              <a:buNone/>
            </a:pPr>
            <a:r>
              <a:rPr lang="en-US" sz="1100" b="1" dirty="0">
                <a:solidFill>
                  <a:srgbClr val="94A3B8"/>
                </a:solidFill>
              </a:rPr>
              <a:t>Markdown Source</a:t>
            </a:r>
            <a:endParaRPr lang="en-US" sz="1100" dirty="0"/>
          </a:p>
        </p:txBody>
      </p:sp>
      <p:sp>
        <p:nvSpPr>
          <p:cNvPr id="15" name="Shape 12"/>
          <p:cNvSpPr/>
          <p:nvPr/>
        </p:nvSpPr>
        <p:spPr>
          <a:xfrm>
            <a:off x="4572000" y="1645920"/>
            <a:ext cx="3291840" cy="2926080"/>
          </a:xfrm>
          <a:prstGeom prst="roundRect">
            <a:avLst>
              <a:gd name="adj" fmla="val 1563"/>
            </a:avLst>
          </a:prstGeom>
          <a:solidFill>
            <a:srgbClr val="0A0F1A"/>
          </a:solidFill>
          <a:ln w="12700">
            <a:solidFill>
              <a:srgbClr val="1E293B"/>
            </a:solidFill>
            <a:prstDash val="solid"/>
          </a:ln>
        </p:spPr>
      </p:sp>
      <p:sp>
        <p:nvSpPr>
          <p:cNvPr id="16" name="Text 13"/>
          <p:cNvSpPr/>
          <p:nvPr/>
        </p:nvSpPr>
        <p:spPr>
          <a:xfrm>
            <a:off x="4754880" y="1783080"/>
            <a:ext cx="2926080" cy="2651760"/>
          </a:xfrm>
          <a:prstGeom prst="rect">
            <a:avLst/>
          </a:prstGeom>
          <a:noFill/>
          <a:ln/>
        </p:spPr>
        <p:txBody>
          <a:bodyPr wrap="square" rtlCol="0" anchor="ctr"/>
          <a:lstStyle/>
          <a:p>
            <a:pPr marL="0" indent="0">
              <a:buNone/>
            </a:pPr>
            <a:r>
              <a:rPr lang="en-US" sz="1050" dirty="0">
                <a:solidFill>
                  <a:srgbClr val="34D399"/>
                </a:solidFill>
                <a:latin typeface="Consolas" pitchFamily="34" charset="0"/>
                <a:ea typeface="Consolas" pitchFamily="34" charset="-122"/>
                <a:cs typeface="Consolas" pitchFamily="34" charset="-120"/>
              </a:rPr>
              <a:t>## Approach</a:t>
            </a:r>
            <a:endParaRPr lang="en-US" sz="1050" dirty="0"/>
          </a:p>
          <a:p>
            <a:pPr marL="0" indent="0">
              <a:buNone/>
            </a:pPr>
            <a:r>
              <a:rPr lang="en-US" sz="1050" dirty="0">
                <a:solidFill>
                  <a:srgbClr val="34D399"/>
                </a:solidFill>
                <a:latin typeface="Consolas" pitchFamily="34" charset="0"/>
                <a:ea typeface="Consolas" pitchFamily="34" charset="-122"/>
                <a:cs typeface="Consolas" pitchFamily="34" charset="-120"/>
              </a:rPr>
              <a:t>**Two pointers** from both ends.</a:t>
            </a:r>
            <a:endParaRPr lang="en-US" sz="1050" dirty="0"/>
          </a:p>
          <a:p>
            <a:pPr marL="0" indent="0">
              <a:buNone/>
            </a:pPr>
            <a:r>
              <a:rPr lang="en-US" sz="1050" dirty="0">
                <a:solidFill>
                  <a:srgbClr val="34D399"/>
                </a:solidFill>
                <a:latin typeface="Consolas" pitchFamily="34" charset="0"/>
                <a:ea typeface="Consolas" pitchFamily="34" charset="-122"/>
                <a:cs typeface="Consolas" pitchFamily="34" charset="-120"/>
              </a:rPr>
              <a:t>`O(n)` time, `O(1)` space.</a:t>
            </a:r>
            <a:endParaRPr lang="en-US" sz="1050" dirty="0"/>
          </a:p>
          <a:p>
            <a:pPr marL="0" indent="0">
              <a:buNone/>
            </a:pPr>
            <a:r>
              <a:rPr lang="en-US" sz="1050" dirty="0">
                <a:solidFill>
                  <a:srgbClr val="34D399"/>
                </a:solidFill>
                <a:latin typeface="Consolas" pitchFamily="34" charset="0"/>
                <a:ea typeface="Consolas" pitchFamily="34" charset="-122"/>
                <a:cs typeface="Consolas" pitchFamily="34" charset="-120"/>
              </a:rPr>
              <a:t>- Sort first</a:t>
            </a:r>
            <a:endParaRPr lang="en-US" sz="1050" dirty="0"/>
          </a:p>
          <a:p>
            <a:pPr marL="0" indent="0">
              <a:buNone/>
            </a:pPr>
            <a:r>
              <a:rPr lang="en-US" sz="1050" dirty="0">
                <a:solidFill>
                  <a:srgbClr val="34D399"/>
                </a:solidFill>
                <a:latin typeface="Consolas" pitchFamily="34" charset="0"/>
                <a:ea typeface="Consolas" pitchFamily="34" charset="-122"/>
                <a:cs typeface="Consolas" pitchFamily="34" charset="-120"/>
              </a:rPr>
              <a:t>- Move inward</a:t>
            </a:r>
            <a:endParaRPr lang="en-US" sz="1050" dirty="0"/>
          </a:p>
        </p:txBody>
      </p:sp>
      <p:sp>
        <p:nvSpPr>
          <p:cNvPr id="17" name="Text 14"/>
          <p:cNvSpPr/>
          <p:nvPr/>
        </p:nvSpPr>
        <p:spPr>
          <a:xfrm>
            <a:off x="8092440" y="1325880"/>
            <a:ext cx="3383280" cy="274320"/>
          </a:xfrm>
          <a:prstGeom prst="rect">
            <a:avLst/>
          </a:prstGeom>
          <a:noFill/>
          <a:ln/>
        </p:spPr>
        <p:txBody>
          <a:bodyPr wrap="square" rtlCol="0" anchor="ctr"/>
          <a:lstStyle/>
          <a:p>
            <a:pPr marL="0" indent="0">
              <a:buNone/>
            </a:pPr>
            <a:r>
              <a:rPr lang="en-US" sz="1100" b="1" dirty="0">
                <a:solidFill>
                  <a:srgbClr val="94A3B8"/>
                </a:solidFill>
              </a:rPr>
              <a:t>Rendered Preview</a:t>
            </a:r>
            <a:endParaRPr lang="en-US" sz="1100" dirty="0"/>
          </a:p>
        </p:txBody>
      </p:sp>
      <p:sp>
        <p:nvSpPr>
          <p:cNvPr id="18" name="Shape 15"/>
          <p:cNvSpPr/>
          <p:nvPr/>
        </p:nvSpPr>
        <p:spPr>
          <a:xfrm>
            <a:off x="8092440" y="1645920"/>
            <a:ext cx="3383280" cy="2926080"/>
          </a:xfrm>
          <a:prstGeom prst="roundRect">
            <a:avLst>
              <a:gd name="adj" fmla="val 1563"/>
            </a:avLst>
          </a:prstGeom>
          <a:solidFill>
            <a:srgbClr val="111827"/>
          </a:solidFill>
          <a:ln w="12700">
            <a:solidFill>
              <a:srgbClr val="1E293B"/>
            </a:solidFill>
            <a:prstDash val="solid"/>
          </a:ln>
        </p:spPr>
      </p:sp>
      <p:sp>
        <p:nvSpPr>
          <p:cNvPr id="19" name="Text 16"/>
          <p:cNvSpPr/>
          <p:nvPr/>
        </p:nvSpPr>
        <p:spPr>
          <a:xfrm>
            <a:off x="8275320" y="1783080"/>
            <a:ext cx="3017520" cy="2651760"/>
          </a:xfrm>
          <a:prstGeom prst="rect">
            <a:avLst/>
          </a:prstGeom>
          <a:noFill/>
          <a:ln/>
        </p:spPr>
        <p:txBody>
          <a:bodyPr wrap="square" rtlCol="0" anchor="ctr"/>
          <a:lstStyle/>
          <a:p>
            <a:pPr marL="0" indent="0">
              <a:buNone/>
            </a:pPr>
            <a:r>
              <a:rPr lang="en-US" sz="1300" b="1" dirty="0">
                <a:solidFill>
                  <a:srgbClr val="E2E8F0"/>
                </a:solidFill>
              </a:rPr>
              <a:t>Approach</a:t>
            </a:r>
            <a:endParaRPr lang="en-US" sz="1300" dirty="0"/>
          </a:p>
          <a:p>
            <a:pPr marL="0" indent="0">
              <a:buNone/>
            </a:pPr>
            <a:r>
              <a:rPr lang="en-US" sz="1100" b="1" dirty="0">
                <a:solidFill>
                  <a:srgbClr val="E2E8F0"/>
                </a:solidFill>
              </a:rPr>
              <a:t>Two pointers</a:t>
            </a:r>
            <a:endParaRPr lang="en-US" sz="1300" dirty="0"/>
          </a:p>
          <a:p>
            <a:pPr marL="0" indent="0">
              <a:buNone/>
            </a:pPr>
            <a:r>
              <a:rPr lang="en-US" sz="1100" dirty="0">
                <a:solidFill>
                  <a:srgbClr val="E2E8F0"/>
                </a:solidFill>
              </a:rPr>
              <a:t> from both ends.</a:t>
            </a:r>
            <a:endParaRPr lang="en-US" sz="1300" dirty="0"/>
          </a:p>
          <a:p>
            <a:pPr marL="0" indent="0">
              <a:buNone/>
            </a:pPr>
            <a:r>
              <a:rPr lang="en-US" sz="1000" dirty="0">
                <a:solidFill>
                  <a:srgbClr val="22D3EE"/>
                </a:solidFill>
                <a:latin typeface="Consolas" pitchFamily="34" charset="0"/>
                <a:ea typeface="Consolas" pitchFamily="34" charset="-122"/>
                <a:cs typeface="Consolas" pitchFamily="34" charset="-120"/>
              </a:rPr>
              <a:t>O(n) time, O(1) space</a:t>
            </a:r>
            <a:endParaRPr lang="en-US" sz="1300" dirty="0"/>
          </a:p>
          <a:p>
            <a:pPr marL="342900" indent="-342900">
              <a:buSzPct val="100000"/>
              <a:buChar char="•"/>
            </a:pPr>
            <a:r>
              <a:rPr lang="en-US" sz="1000" dirty="0">
                <a:solidFill>
                  <a:srgbClr val="E2E8F0"/>
                </a:solidFill>
              </a:rPr>
              <a:t>Sort first</a:t>
            </a:r>
            <a:endParaRPr lang="en-US" sz="1300" dirty="0"/>
          </a:p>
          <a:p>
            <a:pPr marL="342900" indent="-342900">
              <a:buSzPct val="100000"/>
              <a:buChar char="•"/>
            </a:pPr>
            <a:r>
              <a:rPr lang="en-US" sz="1000" dirty="0">
                <a:solidFill>
                  <a:srgbClr val="E2E8F0"/>
                </a:solidFill>
              </a:rPr>
              <a:t>Move inward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The Technology Stack</a:t>
            </a:r>
            <a:endParaRPr lang="en-US" sz="3000" dirty="0"/>
          </a:p>
        </p:txBody>
      </p:sp>
      <p:sp>
        <p:nvSpPr>
          <p:cNvPr id="4" name="Shape 2"/>
          <p:cNvSpPr/>
          <p:nvPr/>
        </p:nvSpPr>
        <p:spPr>
          <a:xfrm>
            <a:off x="457200" y="1280160"/>
            <a:ext cx="3520440" cy="2468880"/>
          </a:xfrm>
          <a:prstGeom prst="roundRect">
            <a:avLst>
              <a:gd name="adj" fmla="val 2963"/>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5" name="Shape 3"/>
          <p:cNvSpPr/>
          <p:nvPr/>
        </p:nvSpPr>
        <p:spPr>
          <a:xfrm>
            <a:off x="1897380" y="1508760"/>
            <a:ext cx="640080" cy="640080"/>
          </a:xfrm>
          <a:prstGeom prst="ellipse">
            <a:avLst/>
          </a:prstGeom>
          <a:solidFill>
            <a:srgbClr val="132235"/>
          </a:solidFill>
          <a:ln/>
        </p:spPr>
      </p:sp>
      <p:pic>
        <p:nvPicPr>
          <p:cNvPr id="6" name="Image 0" descr="preencoded.png"/>
          <p:cNvPicPr>
            <a:picLocks noChangeAspect="1"/>
          </p:cNvPicPr>
          <p:nvPr/>
        </p:nvPicPr>
        <p:blipFill>
          <a:blip r:embed="rId3"/>
          <a:stretch>
            <a:fillRect/>
          </a:stretch>
        </p:blipFill>
        <p:spPr>
          <a:xfrm>
            <a:off x="2050999" y="1662379"/>
            <a:ext cx="332842" cy="332842"/>
          </a:xfrm>
          <a:prstGeom prst="rect">
            <a:avLst/>
          </a:prstGeom>
        </p:spPr>
      </p:pic>
      <p:sp>
        <p:nvSpPr>
          <p:cNvPr id="7" name="Text 4"/>
          <p:cNvSpPr/>
          <p:nvPr/>
        </p:nvSpPr>
        <p:spPr>
          <a:xfrm>
            <a:off x="640080" y="2286000"/>
            <a:ext cx="3154680" cy="320040"/>
          </a:xfrm>
          <a:prstGeom prst="rect">
            <a:avLst/>
          </a:prstGeom>
          <a:noFill/>
          <a:ln/>
        </p:spPr>
        <p:txBody>
          <a:bodyPr wrap="square" rtlCol="0" anchor="ctr"/>
          <a:lstStyle/>
          <a:p>
            <a:pPr marL="0" indent="0" algn="ctr">
              <a:buNone/>
            </a:pPr>
            <a:r>
              <a:rPr lang="en-US" sz="1400" b="1" dirty="0">
                <a:solidFill>
                  <a:srgbClr val="E2E8F0"/>
                </a:solidFill>
              </a:rPr>
              <a:t>Frontend SPA</a:t>
            </a:r>
            <a:endParaRPr lang="en-US" sz="1400" dirty="0"/>
          </a:p>
        </p:txBody>
      </p:sp>
      <p:sp>
        <p:nvSpPr>
          <p:cNvPr id="8" name="Text 5"/>
          <p:cNvSpPr/>
          <p:nvPr/>
        </p:nvSpPr>
        <p:spPr>
          <a:xfrm>
            <a:off x="777240" y="2651760"/>
            <a:ext cx="2880360" cy="1005840"/>
          </a:xfrm>
          <a:prstGeom prst="rect">
            <a:avLst/>
          </a:prstGeom>
          <a:noFill/>
          <a:ln/>
        </p:spPr>
        <p:txBody>
          <a:bodyPr wrap="square" rtlCol="0" anchor="t"/>
          <a:lstStyle/>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Vite + React</a:t>
            </a:r>
            <a:endParaRPr lang="en-US" sz="105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TailwindCSS + Lucide Icons</a:t>
            </a:r>
            <a:endParaRPr lang="en-US" sz="105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LocalStorage fallback</a:t>
            </a:r>
            <a:endParaRPr lang="en-US" sz="1050" dirty="0"/>
          </a:p>
        </p:txBody>
      </p:sp>
      <p:sp>
        <p:nvSpPr>
          <p:cNvPr id="9" name="Text 6"/>
          <p:cNvSpPr/>
          <p:nvPr/>
        </p:nvSpPr>
        <p:spPr>
          <a:xfrm>
            <a:off x="3977640" y="2194560"/>
            <a:ext cx="274320" cy="548640"/>
          </a:xfrm>
          <a:prstGeom prst="rect">
            <a:avLst/>
          </a:prstGeom>
          <a:noFill/>
          <a:ln/>
        </p:spPr>
        <p:txBody>
          <a:bodyPr wrap="square" rtlCol="0" anchor="ctr"/>
          <a:lstStyle/>
          <a:p>
            <a:pPr marL="0" indent="0" algn="ctr">
              <a:buNone/>
            </a:pPr>
            <a:r>
              <a:rPr lang="en-US" sz="2000" dirty="0">
                <a:solidFill>
                  <a:srgbClr val="94A3B8"/>
                </a:solidFill>
              </a:rPr>
              <a:t>→</a:t>
            </a:r>
            <a:endParaRPr lang="en-US" sz="2000" dirty="0"/>
          </a:p>
        </p:txBody>
      </p:sp>
      <p:sp>
        <p:nvSpPr>
          <p:cNvPr id="10" name="Shape 7"/>
          <p:cNvSpPr/>
          <p:nvPr/>
        </p:nvSpPr>
        <p:spPr>
          <a:xfrm>
            <a:off x="4251960" y="1280160"/>
            <a:ext cx="3520440" cy="2468880"/>
          </a:xfrm>
          <a:prstGeom prst="roundRect">
            <a:avLst>
              <a:gd name="adj" fmla="val 2963"/>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11" name="Shape 8"/>
          <p:cNvSpPr/>
          <p:nvPr/>
        </p:nvSpPr>
        <p:spPr>
          <a:xfrm>
            <a:off x="5692140" y="1508760"/>
            <a:ext cx="640080" cy="640080"/>
          </a:xfrm>
          <a:prstGeom prst="ellipse">
            <a:avLst/>
          </a:prstGeom>
          <a:solidFill>
            <a:srgbClr val="0F2E24"/>
          </a:solidFill>
          <a:ln/>
        </p:spPr>
      </p:sp>
      <p:pic>
        <p:nvPicPr>
          <p:cNvPr id="12" name="Image 1" descr="preencoded.png"/>
          <p:cNvPicPr>
            <a:picLocks noChangeAspect="1"/>
          </p:cNvPicPr>
          <p:nvPr/>
        </p:nvPicPr>
        <p:blipFill>
          <a:blip r:embed="rId4"/>
          <a:stretch>
            <a:fillRect/>
          </a:stretch>
        </p:blipFill>
        <p:spPr>
          <a:xfrm>
            <a:off x="5845759" y="1662379"/>
            <a:ext cx="332842" cy="332842"/>
          </a:xfrm>
          <a:prstGeom prst="rect">
            <a:avLst/>
          </a:prstGeom>
        </p:spPr>
      </p:pic>
      <p:sp>
        <p:nvSpPr>
          <p:cNvPr id="13" name="Text 9"/>
          <p:cNvSpPr/>
          <p:nvPr/>
        </p:nvSpPr>
        <p:spPr>
          <a:xfrm>
            <a:off x="4434840" y="2286000"/>
            <a:ext cx="3154680" cy="320040"/>
          </a:xfrm>
          <a:prstGeom prst="rect">
            <a:avLst/>
          </a:prstGeom>
          <a:noFill/>
          <a:ln/>
        </p:spPr>
        <p:txBody>
          <a:bodyPr wrap="square" rtlCol="0" anchor="ctr"/>
          <a:lstStyle/>
          <a:p>
            <a:pPr marL="0" indent="0" algn="ctr">
              <a:buNone/>
            </a:pPr>
            <a:r>
              <a:rPr lang="en-US" sz="1400" b="1" dirty="0">
                <a:solidFill>
                  <a:srgbClr val="E2E8F0"/>
                </a:solidFill>
              </a:rPr>
              <a:t>API Layer</a:t>
            </a:r>
            <a:endParaRPr lang="en-US" sz="1400" dirty="0"/>
          </a:p>
        </p:txBody>
      </p:sp>
      <p:sp>
        <p:nvSpPr>
          <p:cNvPr id="14" name="Text 10"/>
          <p:cNvSpPr/>
          <p:nvPr/>
        </p:nvSpPr>
        <p:spPr>
          <a:xfrm>
            <a:off x="4572000" y="2651760"/>
            <a:ext cx="2880360" cy="1005840"/>
          </a:xfrm>
          <a:prstGeom prst="rect">
            <a:avLst/>
          </a:prstGeom>
          <a:noFill/>
          <a:ln/>
        </p:spPr>
        <p:txBody>
          <a:bodyPr wrap="square" rtlCol="0" anchor="t"/>
          <a:lstStyle/>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REST over HTTP/JSON</a:t>
            </a:r>
            <a:endParaRPr lang="en-US" sz="105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JWT Bearer authentication</a:t>
            </a:r>
            <a:endParaRPr lang="en-US" sz="105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Modular Express routing</a:t>
            </a:r>
            <a:endParaRPr lang="en-US" sz="1050" dirty="0"/>
          </a:p>
        </p:txBody>
      </p:sp>
      <p:sp>
        <p:nvSpPr>
          <p:cNvPr id="15" name="Text 11"/>
          <p:cNvSpPr/>
          <p:nvPr/>
        </p:nvSpPr>
        <p:spPr>
          <a:xfrm>
            <a:off x="7772400" y="2194560"/>
            <a:ext cx="274320" cy="548640"/>
          </a:xfrm>
          <a:prstGeom prst="rect">
            <a:avLst/>
          </a:prstGeom>
          <a:noFill/>
          <a:ln/>
        </p:spPr>
        <p:txBody>
          <a:bodyPr wrap="square" rtlCol="0" anchor="ctr"/>
          <a:lstStyle/>
          <a:p>
            <a:pPr marL="0" indent="0" algn="ctr">
              <a:buNone/>
            </a:pPr>
            <a:r>
              <a:rPr lang="en-US" sz="2000" dirty="0">
                <a:solidFill>
                  <a:srgbClr val="94A3B8"/>
                </a:solidFill>
              </a:rPr>
              <a:t>→</a:t>
            </a:r>
            <a:endParaRPr lang="en-US" sz="2000" dirty="0"/>
          </a:p>
        </p:txBody>
      </p:sp>
      <p:sp>
        <p:nvSpPr>
          <p:cNvPr id="16" name="Shape 12"/>
          <p:cNvSpPr/>
          <p:nvPr/>
        </p:nvSpPr>
        <p:spPr>
          <a:xfrm>
            <a:off x="8046720" y="1280160"/>
            <a:ext cx="3520440" cy="2468880"/>
          </a:xfrm>
          <a:prstGeom prst="roundRect">
            <a:avLst>
              <a:gd name="adj" fmla="val 2963"/>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17" name="Shape 13"/>
          <p:cNvSpPr/>
          <p:nvPr/>
        </p:nvSpPr>
        <p:spPr>
          <a:xfrm>
            <a:off x="9486900" y="1508760"/>
            <a:ext cx="640080" cy="640080"/>
          </a:xfrm>
          <a:prstGeom prst="ellipse">
            <a:avLst/>
          </a:prstGeom>
          <a:solidFill>
            <a:srgbClr val="2A2410"/>
          </a:solidFill>
          <a:ln/>
        </p:spPr>
      </p:sp>
      <p:pic>
        <p:nvPicPr>
          <p:cNvPr id="18" name="Image 2" descr="preencoded.png"/>
          <p:cNvPicPr>
            <a:picLocks noChangeAspect="1"/>
          </p:cNvPicPr>
          <p:nvPr/>
        </p:nvPicPr>
        <p:blipFill>
          <a:blip r:embed="rId5"/>
          <a:stretch>
            <a:fillRect/>
          </a:stretch>
        </p:blipFill>
        <p:spPr>
          <a:xfrm>
            <a:off x="9640519" y="1662379"/>
            <a:ext cx="332842" cy="332842"/>
          </a:xfrm>
          <a:prstGeom prst="rect">
            <a:avLst/>
          </a:prstGeom>
        </p:spPr>
      </p:pic>
      <p:sp>
        <p:nvSpPr>
          <p:cNvPr id="19" name="Text 14"/>
          <p:cNvSpPr/>
          <p:nvPr/>
        </p:nvSpPr>
        <p:spPr>
          <a:xfrm>
            <a:off x="8229600" y="2286000"/>
            <a:ext cx="3154680" cy="320040"/>
          </a:xfrm>
          <a:prstGeom prst="rect">
            <a:avLst/>
          </a:prstGeom>
          <a:noFill/>
          <a:ln/>
        </p:spPr>
        <p:txBody>
          <a:bodyPr wrap="square" rtlCol="0" anchor="ctr"/>
          <a:lstStyle/>
          <a:p>
            <a:pPr marL="0" indent="0" algn="ctr">
              <a:buNone/>
            </a:pPr>
            <a:r>
              <a:rPr lang="en-US" sz="1400" b="1" dirty="0">
                <a:solidFill>
                  <a:srgbClr val="E2E8F0"/>
                </a:solidFill>
              </a:rPr>
              <a:t>Backend / DB</a:t>
            </a:r>
            <a:endParaRPr lang="en-US" sz="1400" dirty="0"/>
          </a:p>
        </p:txBody>
      </p:sp>
      <p:sp>
        <p:nvSpPr>
          <p:cNvPr id="20" name="Text 15"/>
          <p:cNvSpPr/>
          <p:nvPr/>
        </p:nvSpPr>
        <p:spPr>
          <a:xfrm>
            <a:off x="8366760" y="2651760"/>
            <a:ext cx="2880360" cy="1005840"/>
          </a:xfrm>
          <a:prstGeom prst="rect">
            <a:avLst/>
          </a:prstGeom>
          <a:noFill/>
          <a:ln/>
        </p:spPr>
        <p:txBody>
          <a:bodyPr wrap="square" rtlCol="0" anchor="t"/>
          <a:lstStyle/>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Node.js + Express</a:t>
            </a:r>
            <a:endParaRPr lang="en-US" sz="105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Mongoose ODM</a:t>
            </a:r>
            <a:endParaRPr lang="en-US" sz="105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MongoDB (NoSQL)</a:t>
            </a:r>
            <a:endParaRPr lang="en-US" sz="1050" dirty="0"/>
          </a:p>
        </p:txBody>
      </p:sp>
      <p:sp>
        <p:nvSpPr>
          <p:cNvPr id="21" name="Text 16"/>
          <p:cNvSpPr/>
          <p:nvPr/>
        </p:nvSpPr>
        <p:spPr>
          <a:xfrm>
            <a:off x="457200" y="3931920"/>
            <a:ext cx="11274552" cy="822960"/>
          </a:xfrm>
          <a:prstGeom prst="rect">
            <a:avLst/>
          </a:prstGeom>
          <a:noFill/>
          <a:ln/>
        </p:spPr>
        <p:txBody>
          <a:bodyPr wrap="square" rtlCol="0" anchor="t"/>
          <a:lstStyle/>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Secure Authentication: password hashing via bcryptjs, token-based auth via JWT</a:t>
            </a:r>
            <a:endParaRPr lang="en-US" sz="130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NoSQL flexibility: naturally handles arrays of tags, platform links, and long-form notes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PREMIUM UX</a:t>
            </a:r>
            <a:endParaRPr lang="en-US" sz="1200" dirty="0"/>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Data Safety and Portability</a:t>
            </a:r>
            <a:endParaRPr lang="en-US" sz="3000" dirty="0"/>
          </a:p>
        </p:txBody>
      </p:sp>
      <p:sp>
        <p:nvSpPr>
          <p:cNvPr id="4" name="Shape 2"/>
          <p:cNvSpPr/>
          <p:nvPr/>
        </p:nvSpPr>
        <p:spPr>
          <a:xfrm>
            <a:off x="457200" y="1234440"/>
            <a:ext cx="5486400" cy="3520440"/>
          </a:xfrm>
          <a:prstGeom prst="roundRect">
            <a:avLst>
              <a:gd name="adj" fmla="val 2078"/>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5" name="Shape 3"/>
          <p:cNvSpPr/>
          <p:nvPr/>
        </p:nvSpPr>
        <p:spPr>
          <a:xfrm>
            <a:off x="731520" y="1463040"/>
            <a:ext cx="548640" cy="548640"/>
          </a:xfrm>
          <a:prstGeom prst="ellipse">
            <a:avLst/>
          </a:prstGeom>
          <a:solidFill>
            <a:srgbClr val="3F1D2E"/>
          </a:solidFill>
          <a:ln/>
        </p:spPr>
      </p:sp>
      <p:pic>
        <p:nvPicPr>
          <p:cNvPr id="6" name="Image 0" descr="preencoded.png"/>
          <p:cNvPicPr>
            <a:picLocks noChangeAspect="1"/>
          </p:cNvPicPr>
          <p:nvPr/>
        </p:nvPicPr>
        <p:blipFill>
          <a:blip r:embed="rId3"/>
          <a:stretch>
            <a:fillRect/>
          </a:stretch>
        </p:blipFill>
        <p:spPr>
          <a:xfrm>
            <a:off x="863194" y="1594714"/>
            <a:ext cx="285293" cy="285293"/>
          </a:xfrm>
          <a:prstGeom prst="rect">
            <a:avLst/>
          </a:prstGeom>
        </p:spPr>
      </p:pic>
      <p:sp>
        <p:nvSpPr>
          <p:cNvPr id="7" name="Text 4"/>
          <p:cNvSpPr/>
          <p:nvPr/>
        </p:nvSpPr>
        <p:spPr>
          <a:xfrm>
            <a:off x="1417320" y="1508760"/>
            <a:ext cx="4114800" cy="457200"/>
          </a:xfrm>
          <a:prstGeom prst="rect">
            <a:avLst/>
          </a:prstGeom>
          <a:noFill/>
          <a:ln/>
        </p:spPr>
        <p:txBody>
          <a:bodyPr wrap="square" rtlCol="0" anchor="ctr"/>
          <a:lstStyle/>
          <a:p>
            <a:pPr marL="0" indent="0">
              <a:buNone/>
            </a:pPr>
            <a:r>
              <a:rPr lang="en-US" sz="1600" b="1" dirty="0">
                <a:solidFill>
                  <a:srgbClr val="E2E8F0"/>
                </a:solidFill>
              </a:rPr>
              <a:t>Recycle Bin</a:t>
            </a:r>
            <a:endParaRPr lang="en-US" sz="1600" dirty="0"/>
          </a:p>
        </p:txBody>
      </p:sp>
      <p:sp>
        <p:nvSpPr>
          <p:cNvPr id="8" name="Text 5"/>
          <p:cNvSpPr/>
          <p:nvPr/>
        </p:nvSpPr>
        <p:spPr>
          <a:xfrm>
            <a:off x="731520" y="2194560"/>
            <a:ext cx="4937760" cy="2377440"/>
          </a:xfrm>
          <a:prstGeom prst="rect">
            <a:avLst/>
          </a:prstGeom>
          <a:noFill/>
          <a:ln/>
        </p:spPr>
        <p:txBody>
          <a:bodyPr wrap="square" rtlCol="0" anchor="t"/>
          <a:lstStyle/>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Soft Delete: removing a problem sets isDeleted=true, moving it to trash</a:t>
            </a:r>
            <a:endParaRPr lang="en-US" sz="115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Restore any item back to the active log with one click</a:t>
            </a:r>
            <a:endParaRPr lang="en-US" sz="115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Permanent Purge: delete a single item, or empty the entire trash</a:t>
            </a:r>
            <a:endParaRPr lang="en-US" sz="1150" dirty="0"/>
          </a:p>
        </p:txBody>
      </p:sp>
      <p:sp>
        <p:nvSpPr>
          <p:cNvPr id="9" name="Shape 6"/>
          <p:cNvSpPr/>
          <p:nvPr/>
        </p:nvSpPr>
        <p:spPr>
          <a:xfrm>
            <a:off x="6245352" y="1234440"/>
            <a:ext cx="5486400" cy="3520440"/>
          </a:xfrm>
          <a:prstGeom prst="roundRect">
            <a:avLst>
              <a:gd name="adj" fmla="val 2078"/>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10" name="Shape 7"/>
          <p:cNvSpPr/>
          <p:nvPr/>
        </p:nvSpPr>
        <p:spPr>
          <a:xfrm>
            <a:off x="6519672" y="1463040"/>
            <a:ext cx="548640" cy="548640"/>
          </a:xfrm>
          <a:prstGeom prst="ellipse">
            <a:avLst/>
          </a:prstGeom>
          <a:solidFill>
            <a:srgbClr val="0F2E24"/>
          </a:solidFill>
          <a:ln/>
        </p:spPr>
      </p:sp>
      <p:pic>
        <p:nvPicPr>
          <p:cNvPr id="11" name="Image 1" descr="preencoded.png"/>
          <p:cNvPicPr>
            <a:picLocks noChangeAspect="1"/>
          </p:cNvPicPr>
          <p:nvPr/>
        </p:nvPicPr>
        <p:blipFill>
          <a:blip r:embed="rId4"/>
          <a:stretch>
            <a:fillRect/>
          </a:stretch>
        </p:blipFill>
        <p:spPr>
          <a:xfrm>
            <a:off x="6651346" y="1594714"/>
            <a:ext cx="285293" cy="285293"/>
          </a:xfrm>
          <a:prstGeom prst="rect">
            <a:avLst/>
          </a:prstGeom>
        </p:spPr>
      </p:pic>
      <p:sp>
        <p:nvSpPr>
          <p:cNvPr id="12" name="Text 8"/>
          <p:cNvSpPr/>
          <p:nvPr/>
        </p:nvSpPr>
        <p:spPr>
          <a:xfrm>
            <a:off x="7205472" y="1508760"/>
            <a:ext cx="4297680" cy="457200"/>
          </a:xfrm>
          <a:prstGeom prst="rect">
            <a:avLst/>
          </a:prstGeom>
          <a:noFill/>
          <a:ln/>
        </p:spPr>
        <p:txBody>
          <a:bodyPr wrap="square" rtlCol="0" anchor="ctr"/>
          <a:lstStyle/>
          <a:p>
            <a:pPr marL="0" indent="0">
              <a:buNone/>
            </a:pPr>
            <a:r>
              <a:rPr lang="en-US" sz="1600" b="1" dirty="0">
                <a:solidFill>
                  <a:srgbClr val="E2E8F0"/>
                </a:solidFill>
              </a:rPr>
              <a:t>One-Click Data Export</a:t>
            </a:r>
            <a:endParaRPr lang="en-US" sz="1600" dirty="0"/>
          </a:p>
        </p:txBody>
      </p:sp>
      <p:sp>
        <p:nvSpPr>
          <p:cNvPr id="13" name="Text 9"/>
          <p:cNvSpPr/>
          <p:nvPr/>
        </p:nvSpPr>
        <p:spPr>
          <a:xfrm>
            <a:off x="6519672" y="2194560"/>
            <a:ext cx="4937760" cy="2377440"/>
          </a:xfrm>
          <a:prstGeom prst="rect">
            <a:avLst/>
          </a:prstGeom>
          <a:noFill/>
          <a:ln/>
        </p:spPr>
        <p:txBody>
          <a:bodyPr wrap="square" rtlCol="0" anchor="t"/>
          <a:lstStyle/>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JSON: full system export — problems, collections, trash, activity map</a:t>
            </a:r>
            <a:endParaRPr lang="en-US" sz="115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CSV: readable spreadsheet — name, difficulty, status, tags, dates, review count</a:t>
            </a:r>
            <a:endParaRPr lang="en-US" sz="115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Guest or registered users can back up or migrate data anytime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ONBOARDING</a:t>
            </a:r>
            <a:endParaRPr lang="en-US" sz="1200" dirty="0"/>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Hybrid Access: Guest Session Migration</a:t>
            </a:r>
            <a:endParaRPr lang="en-US" sz="3000" dirty="0"/>
          </a:p>
        </p:txBody>
      </p:sp>
      <p:sp>
        <p:nvSpPr>
          <p:cNvPr id="4" name="Shape 2"/>
          <p:cNvSpPr/>
          <p:nvPr/>
        </p:nvSpPr>
        <p:spPr>
          <a:xfrm>
            <a:off x="457200" y="1463040"/>
            <a:ext cx="2606040" cy="2377440"/>
          </a:xfrm>
          <a:prstGeom prst="roundRect">
            <a:avLst>
              <a:gd name="adj" fmla="val 3077"/>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5" name="Shape 3"/>
          <p:cNvSpPr/>
          <p:nvPr/>
        </p:nvSpPr>
        <p:spPr>
          <a:xfrm>
            <a:off x="1485900" y="1691640"/>
            <a:ext cx="548640" cy="548640"/>
          </a:xfrm>
          <a:prstGeom prst="ellipse">
            <a:avLst/>
          </a:prstGeom>
          <a:solidFill>
            <a:srgbClr val="132235"/>
          </a:solidFill>
          <a:ln/>
        </p:spPr>
      </p:sp>
      <p:pic>
        <p:nvPicPr>
          <p:cNvPr id="6" name="Image 0" descr="preencoded.png"/>
          <p:cNvPicPr>
            <a:picLocks noChangeAspect="1"/>
          </p:cNvPicPr>
          <p:nvPr/>
        </p:nvPicPr>
        <p:blipFill>
          <a:blip r:embed="rId3"/>
          <a:stretch>
            <a:fillRect/>
          </a:stretch>
        </p:blipFill>
        <p:spPr>
          <a:xfrm>
            <a:off x="1617574" y="1823314"/>
            <a:ext cx="285293" cy="285293"/>
          </a:xfrm>
          <a:prstGeom prst="rect">
            <a:avLst/>
          </a:prstGeom>
        </p:spPr>
      </p:pic>
      <p:sp>
        <p:nvSpPr>
          <p:cNvPr id="7" name="Text 4"/>
          <p:cNvSpPr/>
          <p:nvPr/>
        </p:nvSpPr>
        <p:spPr>
          <a:xfrm>
            <a:off x="548640" y="2377440"/>
            <a:ext cx="2423160" cy="365760"/>
          </a:xfrm>
          <a:prstGeom prst="rect">
            <a:avLst/>
          </a:prstGeom>
          <a:noFill/>
          <a:ln/>
        </p:spPr>
        <p:txBody>
          <a:bodyPr wrap="square" rtlCol="0" anchor="ctr"/>
          <a:lstStyle/>
          <a:p>
            <a:pPr marL="0" indent="0" algn="ctr">
              <a:buNone/>
            </a:pPr>
            <a:r>
              <a:rPr lang="en-US" sz="1250" b="1" dirty="0">
                <a:solidFill>
                  <a:srgbClr val="E2E8F0"/>
                </a:solidFill>
              </a:rPr>
              <a:t>Guest Mode</a:t>
            </a:r>
            <a:endParaRPr lang="en-US" sz="1250" dirty="0"/>
          </a:p>
        </p:txBody>
      </p:sp>
      <p:sp>
        <p:nvSpPr>
          <p:cNvPr id="8" name="Text 5"/>
          <p:cNvSpPr/>
          <p:nvPr/>
        </p:nvSpPr>
        <p:spPr>
          <a:xfrm>
            <a:off x="594360" y="2743200"/>
            <a:ext cx="2331720" cy="1005840"/>
          </a:xfrm>
          <a:prstGeom prst="rect">
            <a:avLst/>
          </a:prstGeom>
          <a:noFill/>
          <a:ln/>
        </p:spPr>
        <p:txBody>
          <a:bodyPr wrap="square" rtlCol="0" anchor="ctr"/>
          <a:lstStyle/>
          <a:p>
            <a:pPr marL="0" indent="0" algn="ctr">
              <a:buNone/>
            </a:pPr>
            <a:r>
              <a:rPr lang="en-US" sz="950" dirty="0">
                <a:solidFill>
                  <a:srgbClr val="94A3B8"/>
                </a:solidFill>
              </a:rPr>
              <a:t>Local storage + guest JWT token, pre-seeded with 10 sample problems</a:t>
            </a:r>
            <a:endParaRPr lang="en-US" sz="950" dirty="0"/>
          </a:p>
        </p:txBody>
      </p:sp>
      <p:sp>
        <p:nvSpPr>
          <p:cNvPr id="9" name="Text 6"/>
          <p:cNvSpPr/>
          <p:nvPr/>
        </p:nvSpPr>
        <p:spPr>
          <a:xfrm>
            <a:off x="3063240" y="2377440"/>
            <a:ext cx="228600" cy="365760"/>
          </a:xfrm>
          <a:prstGeom prst="rect">
            <a:avLst/>
          </a:prstGeom>
          <a:noFill/>
          <a:ln/>
        </p:spPr>
        <p:txBody>
          <a:bodyPr wrap="square" rtlCol="0" anchor="ctr"/>
          <a:lstStyle/>
          <a:p>
            <a:pPr marL="0" indent="0" algn="ctr">
              <a:buNone/>
            </a:pPr>
            <a:r>
              <a:rPr lang="en-US" sz="1800" dirty="0">
                <a:solidFill>
                  <a:srgbClr val="22D3EE"/>
                </a:solidFill>
              </a:rPr>
              <a:t>→</a:t>
            </a:r>
            <a:endParaRPr lang="en-US" sz="1800" dirty="0"/>
          </a:p>
        </p:txBody>
      </p:sp>
      <p:sp>
        <p:nvSpPr>
          <p:cNvPr id="10" name="Shape 7"/>
          <p:cNvSpPr/>
          <p:nvPr/>
        </p:nvSpPr>
        <p:spPr>
          <a:xfrm>
            <a:off x="3291840" y="1463040"/>
            <a:ext cx="2606040" cy="2377440"/>
          </a:xfrm>
          <a:prstGeom prst="roundRect">
            <a:avLst>
              <a:gd name="adj" fmla="val 3077"/>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11" name="Shape 8"/>
          <p:cNvSpPr/>
          <p:nvPr/>
        </p:nvSpPr>
        <p:spPr>
          <a:xfrm>
            <a:off x="4320540" y="1691640"/>
            <a:ext cx="548640" cy="548640"/>
          </a:xfrm>
          <a:prstGeom prst="ellipse">
            <a:avLst/>
          </a:prstGeom>
          <a:solidFill>
            <a:srgbClr val="132235"/>
          </a:solidFill>
          <a:ln/>
        </p:spPr>
      </p:sp>
      <p:pic>
        <p:nvPicPr>
          <p:cNvPr id="12" name="Image 1" descr="preencoded.png"/>
          <p:cNvPicPr>
            <a:picLocks noChangeAspect="1"/>
          </p:cNvPicPr>
          <p:nvPr/>
        </p:nvPicPr>
        <p:blipFill>
          <a:blip r:embed="rId4"/>
          <a:stretch>
            <a:fillRect/>
          </a:stretch>
        </p:blipFill>
        <p:spPr>
          <a:xfrm>
            <a:off x="4452214" y="1823314"/>
            <a:ext cx="285293" cy="285293"/>
          </a:xfrm>
          <a:prstGeom prst="rect">
            <a:avLst/>
          </a:prstGeom>
        </p:spPr>
      </p:pic>
      <p:sp>
        <p:nvSpPr>
          <p:cNvPr id="13" name="Text 9"/>
          <p:cNvSpPr/>
          <p:nvPr/>
        </p:nvSpPr>
        <p:spPr>
          <a:xfrm>
            <a:off x="3383280" y="2377440"/>
            <a:ext cx="2423160" cy="365760"/>
          </a:xfrm>
          <a:prstGeom prst="rect">
            <a:avLst/>
          </a:prstGeom>
          <a:noFill/>
          <a:ln/>
        </p:spPr>
        <p:txBody>
          <a:bodyPr wrap="square" rtlCol="0" anchor="ctr"/>
          <a:lstStyle/>
          <a:p>
            <a:pPr marL="0" indent="0" algn="ctr">
              <a:buNone/>
            </a:pPr>
            <a:r>
              <a:rPr lang="en-US" sz="1250" b="1" dirty="0">
                <a:solidFill>
                  <a:srgbClr val="E2E8F0"/>
                </a:solidFill>
              </a:rPr>
              <a:t>Register / Login</a:t>
            </a:r>
            <a:endParaRPr lang="en-US" sz="1250" dirty="0"/>
          </a:p>
        </p:txBody>
      </p:sp>
      <p:sp>
        <p:nvSpPr>
          <p:cNvPr id="14" name="Text 10"/>
          <p:cNvSpPr/>
          <p:nvPr/>
        </p:nvSpPr>
        <p:spPr>
          <a:xfrm>
            <a:off x="3429000" y="2743200"/>
            <a:ext cx="2331720" cy="1005840"/>
          </a:xfrm>
          <a:prstGeom prst="rect">
            <a:avLst/>
          </a:prstGeom>
          <a:noFill/>
          <a:ln/>
        </p:spPr>
        <p:txBody>
          <a:bodyPr wrap="square" rtlCol="0" anchor="ctr"/>
          <a:lstStyle/>
          <a:p>
            <a:pPr marL="0" indent="0" algn="ctr">
              <a:buNone/>
            </a:pPr>
            <a:r>
              <a:rPr lang="en-US" sz="950" dirty="0">
                <a:solidFill>
                  <a:srgbClr val="94A3B8"/>
                </a:solidFill>
              </a:rPr>
              <a:t>User signs up and opts to sync guest data</a:t>
            </a:r>
            <a:endParaRPr lang="en-US" sz="950" dirty="0"/>
          </a:p>
        </p:txBody>
      </p:sp>
      <p:sp>
        <p:nvSpPr>
          <p:cNvPr id="15" name="Text 11"/>
          <p:cNvSpPr/>
          <p:nvPr/>
        </p:nvSpPr>
        <p:spPr>
          <a:xfrm>
            <a:off x="5897880" y="2377440"/>
            <a:ext cx="228600" cy="365760"/>
          </a:xfrm>
          <a:prstGeom prst="rect">
            <a:avLst/>
          </a:prstGeom>
          <a:noFill/>
          <a:ln/>
        </p:spPr>
        <p:txBody>
          <a:bodyPr wrap="square" rtlCol="0" anchor="ctr"/>
          <a:lstStyle/>
          <a:p>
            <a:pPr marL="0" indent="0" algn="ctr">
              <a:buNone/>
            </a:pPr>
            <a:r>
              <a:rPr lang="en-US" sz="1800" dirty="0">
                <a:solidFill>
                  <a:srgbClr val="22D3EE"/>
                </a:solidFill>
              </a:rPr>
              <a:t>→</a:t>
            </a:r>
            <a:endParaRPr lang="en-US" sz="1800" dirty="0"/>
          </a:p>
        </p:txBody>
      </p:sp>
      <p:sp>
        <p:nvSpPr>
          <p:cNvPr id="16" name="Shape 12"/>
          <p:cNvSpPr/>
          <p:nvPr/>
        </p:nvSpPr>
        <p:spPr>
          <a:xfrm>
            <a:off x="6126480" y="1463040"/>
            <a:ext cx="2606040" cy="2377440"/>
          </a:xfrm>
          <a:prstGeom prst="roundRect">
            <a:avLst>
              <a:gd name="adj" fmla="val 3077"/>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17" name="Shape 13"/>
          <p:cNvSpPr/>
          <p:nvPr/>
        </p:nvSpPr>
        <p:spPr>
          <a:xfrm>
            <a:off x="7155180" y="1691640"/>
            <a:ext cx="548640" cy="548640"/>
          </a:xfrm>
          <a:prstGeom prst="ellipse">
            <a:avLst/>
          </a:prstGeom>
          <a:solidFill>
            <a:srgbClr val="132235"/>
          </a:solidFill>
          <a:ln/>
        </p:spPr>
      </p:sp>
      <p:pic>
        <p:nvPicPr>
          <p:cNvPr id="18" name="Image 2" descr="preencoded.png"/>
          <p:cNvPicPr>
            <a:picLocks noChangeAspect="1"/>
          </p:cNvPicPr>
          <p:nvPr/>
        </p:nvPicPr>
        <p:blipFill>
          <a:blip r:embed="rId5"/>
          <a:stretch>
            <a:fillRect/>
          </a:stretch>
        </p:blipFill>
        <p:spPr>
          <a:xfrm>
            <a:off x="7286854" y="1823314"/>
            <a:ext cx="285293" cy="285293"/>
          </a:xfrm>
          <a:prstGeom prst="rect">
            <a:avLst/>
          </a:prstGeom>
        </p:spPr>
      </p:pic>
      <p:sp>
        <p:nvSpPr>
          <p:cNvPr id="19" name="Text 14"/>
          <p:cNvSpPr/>
          <p:nvPr/>
        </p:nvSpPr>
        <p:spPr>
          <a:xfrm>
            <a:off x="6217920" y="2377440"/>
            <a:ext cx="2423160" cy="365760"/>
          </a:xfrm>
          <a:prstGeom prst="rect">
            <a:avLst/>
          </a:prstGeom>
          <a:noFill/>
          <a:ln/>
        </p:spPr>
        <p:txBody>
          <a:bodyPr wrap="square" rtlCol="0" anchor="ctr"/>
          <a:lstStyle/>
          <a:p>
            <a:pPr marL="0" indent="0" algn="ctr">
              <a:buNone/>
            </a:pPr>
            <a:r>
              <a:rPr lang="en-US" sz="1250" b="1" dirty="0">
                <a:solidFill>
                  <a:srgbClr val="E2E8F0"/>
                </a:solidFill>
              </a:rPr>
              <a:t>POST /api/auth/sync</a:t>
            </a:r>
            <a:endParaRPr lang="en-US" sz="1250" dirty="0"/>
          </a:p>
        </p:txBody>
      </p:sp>
      <p:sp>
        <p:nvSpPr>
          <p:cNvPr id="20" name="Text 15"/>
          <p:cNvSpPr/>
          <p:nvPr/>
        </p:nvSpPr>
        <p:spPr>
          <a:xfrm>
            <a:off x="6263640" y="2743200"/>
            <a:ext cx="2331720" cy="1005840"/>
          </a:xfrm>
          <a:prstGeom prst="rect">
            <a:avLst/>
          </a:prstGeom>
          <a:noFill/>
          <a:ln/>
        </p:spPr>
        <p:txBody>
          <a:bodyPr wrap="square" rtlCol="0" anchor="ctr"/>
          <a:lstStyle/>
          <a:p>
            <a:pPr marL="0" indent="0" algn="ctr">
              <a:buNone/>
            </a:pPr>
            <a:r>
              <a:rPr lang="en-US" sz="950" dirty="0">
                <a:solidFill>
                  <a:srgbClr val="94A3B8"/>
                </a:solidFill>
              </a:rPr>
              <a:t>Guest ID sent to backend for migration</a:t>
            </a:r>
            <a:endParaRPr lang="en-US" sz="950" dirty="0"/>
          </a:p>
        </p:txBody>
      </p:sp>
      <p:sp>
        <p:nvSpPr>
          <p:cNvPr id="21" name="Text 16"/>
          <p:cNvSpPr/>
          <p:nvPr/>
        </p:nvSpPr>
        <p:spPr>
          <a:xfrm>
            <a:off x="8732520" y="2377440"/>
            <a:ext cx="228600" cy="365760"/>
          </a:xfrm>
          <a:prstGeom prst="rect">
            <a:avLst/>
          </a:prstGeom>
          <a:noFill/>
          <a:ln/>
        </p:spPr>
        <p:txBody>
          <a:bodyPr wrap="square" rtlCol="0" anchor="ctr"/>
          <a:lstStyle/>
          <a:p>
            <a:pPr marL="0" indent="0" algn="ctr">
              <a:buNone/>
            </a:pPr>
            <a:r>
              <a:rPr lang="en-US" sz="1800" dirty="0">
                <a:solidFill>
                  <a:srgbClr val="22D3EE"/>
                </a:solidFill>
              </a:rPr>
              <a:t>→</a:t>
            </a:r>
            <a:endParaRPr lang="en-US" sz="1800" dirty="0"/>
          </a:p>
        </p:txBody>
      </p:sp>
      <p:sp>
        <p:nvSpPr>
          <p:cNvPr id="22" name="Shape 17"/>
          <p:cNvSpPr/>
          <p:nvPr/>
        </p:nvSpPr>
        <p:spPr>
          <a:xfrm>
            <a:off x="8961120" y="1463040"/>
            <a:ext cx="2606040" cy="2377440"/>
          </a:xfrm>
          <a:prstGeom prst="roundRect">
            <a:avLst>
              <a:gd name="adj" fmla="val 3077"/>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23" name="Shape 18"/>
          <p:cNvSpPr/>
          <p:nvPr/>
        </p:nvSpPr>
        <p:spPr>
          <a:xfrm>
            <a:off x="9989820" y="1691640"/>
            <a:ext cx="548640" cy="548640"/>
          </a:xfrm>
          <a:prstGeom prst="ellipse">
            <a:avLst/>
          </a:prstGeom>
          <a:solidFill>
            <a:srgbClr val="132235"/>
          </a:solidFill>
          <a:ln/>
        </p:spPr>
      </p:sp>
      <p:pic>
        <p:nvPicPr>
          <p:cNvPr id="24" name="Image 3" descr="preencoded.png"/>
          <p:cNvPicPr>
            <a:picLocks noChangeAspect="1"/>
          </p:cNvPicPr>
          <p:nvPr/>
        </p:nvPicPr>
        <p:blipFill>
          <a:blip r:embed="rId6"/>
          <a:stretch>
            <a:fillRect/>
          </a:stretch>
        </p:blipFill>
        <p:spPr>
          <a:xfrm>
            <a:off x="10121494" y="1823314"/>
            <a:ext cx="285293" cy="285293"/>
          </a:xfrm>
          <a:prstGeom prst="rect">
            <a:avLst/>
          </a:prstGeom>
        </p:spPr>
      </p:pic>
      <p:sp>
        <p:nvSpPr>
          <p:cNvPr id="25" name="Text 19"/>
          <p:cNvSpPr/>
          <p:nvPr/>
        </p:nvSpPr>
        <p:spPr>
          <a:xfrm>
            <a:off x="9052560" y="2377440"/>
            <a:ext cx="2423160" cy="365760"/>
          </a:xfrm>
          <a:prstGeom prst="rect">
            <a:avLst/>
          </a:prstGeom>
          <a:noFill/>
          <a:ln/>
        </p:spPr>
        <p:txBody>
          <a:bodyPr wrap="square" rtlCol="0" anchor="ctr"/>
          <a:lstStyle/>
          <a:p>
            <a:pPr marL="0" indent="0" algn="ctr">
              <a:buNone/>
            </a:pPr>
            <a:r>
              <a:rPr lang="en-US" sz="1250" b="1" dirty="0">
                <a:solidFill>
                  <a:srgbClr val="E2E8F0"/>
                </a:solidFill>
              </a:rPr>
              <a:t>MongoDB Update</a:t>
            </a:r>
            <a:endParaRPr lang="en-US" sz="1250" dirty="0"/>
          </a:p>
        </p:txBody>
      </p:sp>
      <p:sp>
        <p:nvSpPr>
          <p:cNvPr id="26" name="Text 20"/>
          <p:cNvSpPr/>
          <p:nvPr/>
        </p:nvSpPr>
        <p:spPr>
          <a:xfrm>
            <a:off x="9098280" y="2743200"/>
            <a:ext cx="2331720" cy="1005840"/>
          </a:xfrm>
          <a:prstGeom prst="rect">
            <a:avLst/>
          </a:prstGeom>
          <a:noFill/>
          <a:ln/>
        </p:spPr>
        <p:txBody>
          <a:bodyPr wrap="square" rtlCol="0" anchor="ctr"/>
          <a:lstStyle/>
          <a:p>
            <a:pPr marL="0" indent="0" algn="ctr">
              <a:buNone/>
            </a:pPr>
            <a:r>
              <a:rPr lang="en-US" sz="950" dirty="0">
                <a:solidFill>
                  <a:srgbClr val="94A3B8"/>
                </a:solidFill>
              </a:rPr>
              <a:t>userId reassigned; activity merged; guest seed reset</a:t>
            </a:r>
            <a:endParaRPr lang="en-US" sz="950" dirty="0"/>
          </a:p>
        </p:txBody>
      </p:sp>
      <p:sp>
        <p:nvSpPr>
          <p:cNvPr id="27" name="Text 21"/>
          <p:cNvSpPr/>
          <p:nvPr/>
        </p:nvSpPr>
        <p:spPr>
          <a:xfrm>
            <a:off x="457200" y="4114800"/>
            <a:ext cx="11274552" cy="731520"/>
          </a:xfrm>
          <a:prstGeom prst="rect">
            <a:avLst/>
          </a:prstGeom>
          <a:noFill/>
          <a:ln/>
        </p:spPr>
        <p:txBody>
          <a:bodyPr wrap="square" rtlCol="0" anchor="t"/>
          <a:lstStyle/>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Zero-friction start — explore the full app before creating an account</a:t>
            </a:r>
            <a:endParaRPr lang="en-US" sz="1300" dirty="0"/>
          </a:p>
          <a:p>
            <a:pPr marL="342900" indent="-342900">
              <a:spcAft>
                <a:spcPts val="1000"/>
              </a:spcAft>
              <a:buSzPct val="100000"/>
              <a:buChar char="•"/>
            </a:pPr>
            <a:r>
              <a:rPr lang="en-US" sz="1300" dirty="0">
                <a:solidFill>
                  <a:srgbClr val="E2E8F0"/>
                </a:solidFill>
                <a:latin typeface="Calibri" pitchFamily="34" charset="0"/>
                <a:ea typeface="Calibri" pitchFamily="34" charset="-122"/>
                <a:cs typeface="Calibri" pitchFamily="34" charset="-120"/>
              </a:rPr>
              <a:t>Nothing is lost in transition: all records and streaks carry over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GETTING STARTED</a:t>
            </a:r>
            <a:endParaRPr lang="en-US" sz="1200" dirty="0"/>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Environment Requirements &amp; Quick Start</a:t>
            </a:r>
            <a:endParaRPr lang="en-US" sz="3000" dirty="0"/>
          </a:p>
        </p:txBody>
      </p:sp>
      <p:sp>
        <p:nvSpPr>
          <p:cNvPr id="4" name="Shape 2"/>
          <p:cNvSpPr/>
          <p:nvPr/>
        </p:nvSpPr>
        <p:spPr>
          <a:xfrm>
            <a:off x="457200" y="1280160"/>
            <a:ext cx="5120640" cy="3429000"/>
          </a:xfrm>
          <a:prstGeom prst="roundRect">
            <a:avLst>
              <a:gd name="adj" fmla="val 2133"/>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5" name="Text 3"/>
          <p:cNvSpPr/>
          <p:nvPr/>
        </p:nvSpPr>
        <p:spPr>
          <a:xfrm>
            <a:off x="731520" y="1417320"/>
            <a:ext cx="4572000" cy="320040"/>
          </a:xfrm>
          <a:prstGeom prst="rect">
            <a:avLst/>
          </a:prstGeom>
          <a:noFill/>
          <a:ln/>
        </p:spPr>
        <p:txBody>
          <a:bodyPr wrap="square" rtlCol="0" anchor="ctr"/>
          <a:lstStyle/>
          <a:p>
            <a:pPr marL="0" indent="0">
              <a:buNone/>
            </a:pPr>
            <a:r>
              <a:rPr lang="en-US" sz="1400" b="1" dirty="0">
                <a:solidFill>
                  <a:srgbClr val="E2E8F0"/>
                </a:solidFill>
              </a:rPr>
              <a:t>Requirements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828800"/>
          <a:ext cx="4572000" cy="265176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530352">
                <a:tc>
                  <a:txBody>
                    <a:bodyPr/>
                    <a:lstStyle/>
                    <a:p>
                      <a:pPr marL="0" indent="0">
                        <a:buNone/>
                      </a:pPr>
                      <a:r>
                        <a:rPr lang="en-US" sz="1100" b="1" dirty="0">
                          <a:solidFill>
                            <a:srgbClr val="FFFFFF"/>
                          </a:solidFill>
                        </a:rPr>
                        <a:t>Component</a:t>
                      </a:r>
                      <a:endParaRPr lang="en-US" sz="1100" dirty="0"/>
                    </a:p>
                  </a:txBody>
                  <a:tcP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rPr>
                        <a:t>Spec</a:t>
                      </a:r>
                      <a:endParaRPr lang="en-US" sz="1100" dirty="0"/>
                    </a:p>
                  </a:txBody>
                  <a:tcP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530352">
                <a:tc>
                  <a:txBody>
                    <a:bodyPr/>
                    <a:lstStyle/>
                    <a:p>
                      <a:pPr marL="0" indent="0">
                        <a:buNone/>
                      </a:pPr>
                      <a:r>
                        <a:rPr lang="en-US" sz="1100" dirty="0">
                          <a:solidFill>
                            <a:srgbClr val="E2E8F0"/>
                          </a:solidFill>
                        </a:rPr>
                        <a:t>Node.js</a:t>
                      </a:r>
                      <a:endParaRPr lang="en-US" sz="1100" dirty="0"/>
                    </a:p>
                  </a:txBody>
                  <a:tcP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marL="0" indent="0">
                        <a:buNone/>
                      </a:pPr>
                      <a:r>
                        <a:rPr lang="en-US" sz="1100" dirty="0">
                          <a:solidFill>
                            <a:srgbClr val="E2E8F0"/>
                          </a:solidFill>
                        </a:rPr>
                        <a:t>v16+ LTS</a:t>
                      </a:r>
                      <a:endParaRPr lang="en-US" sz="1100" dirty="0"/>
                    </a:p>
                  </a:txBody>
                  <a:tcP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extLst>
                  <a:ext uri="{0D108BD9-81ED-4DB2-BD59-A6C34878D82A}">
                    <a16:rowId xmlns:a16="http://schemas.microsoft.com/office/drawing/2014/main" val="10001"/>
                  </a:ext>
                </a:extLst>
              </a:tr>
              <a:tr h="530352">
                <a:tc>
                  <a:txBody>
                    <a:bodyPr/>
                    <a:lstStyle/>
                    <a:p>
                      <a:pPr marL="0" indent="0">
                        <a:buNone/>
                      </a:pPr>
                      <a:r>
                        <a:rPr lang="en-US" sz="1100" dirty="0">
                          <a:solidFill>
                            <a:srgbClr val="E2E8F0"/>
                          </a:solidFill>
                        </a:rPr>
                        <a:t>MongoDB</a:t>
                      </a:r>
                      <a:endParaRPr lang="en-US" sz="1100" dirty="0"/>
                    </a:p>
                  </a:txBody>
                  <a:tcP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marL="0" indent="0">
                        <a:buNone/>
                      </a:pPr>
                      <a:r>
                        <a:rPr lang="en-US" sz="1100" dirty="0">
                          <a:solidFill>
                            <a:srgbClr val="E2E8F0"/>
                          </a:solidFill>
                        </a:rPr>
                        <a:t>v6+ (local or Atlas)</a:t>
                      </a:r>
                      <a:endParaRPr lang="en-US" sz="1100" dirty="0"/>
                    </a:p>
                  </a:txBody>
                  <a:tcP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extLst>
                  <a:ext uri="{0D108BD9-81ED-4DB2-BD59-A6C34878D82A}">
                    <a16:rowId xmlns:a16="http://schemas.microsoft.com/office/drawing/2014/main" val="10002"/>
                  </a:ext>
                </a:extLst>
              </a:tr>
              <a:tr h="530352">
                <a:tc>
                  <a:txBody>
                    <a:bodyPr/>
                    <a:lstStyle/>
                    <a:p>
                      <a:pPr marL="0" indent="0">
                        <a:buNone/>
                      </a:pPr>
                      <a:r>
                        <a:rPr lang="en-US" sz="1100" dirty="0">
                          <a:solidFill>
                            <a:srgbClr val="E2E8F0"/>
                          </a:solidFill>
                        </a:rPr>
                        <a:t>RAM</a:t>
                      </a:r>
                      <a:endParaRPr lang="en-US" sz="1100" dirty="0"/>
                    </a:p>
                  </a:txBody>
                  <a:tcP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marL="0" indent="0">
                        <a:buNone/>
                      </a:pPr>
                      <a:r>
                        <a:rPr lang="en-US" sz="1100" dirty="0">
                          <a:solidFill>
                            <a:srgbClr val="E2E8F0"/>
                          </a:solidFill>
                        </a:rPr>
                        <a:t>4 GB min, 8 GB rec.</a:t>
                      </a:r>
                      <a:endParaRPr lang="en-US" sz="1100" dirty="0"/>
                    </a:p>
                  </a:txBody>
                  <a:tcP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extLst>
                  <a:ext uri="{0D108BD9-81ED-4DB2-BD59-A6C34878D82A}">
                    <a16:rowId xmlns:a16="http://schemas.microsoft.com/office/drawing/2014/main" val="10003"/>
                  </a:ext>
                </a:extLst>
              </a:tr>
              <a:tr h="530352">
                <a:tc>
                  <a:txBody>
                    <a:bodyPr/>
                    <a:lstStyle/>
                    <a:p>
                      <a:pPr marL="0" indent="0">
                        <a:buNone/>
                      </a:pPr>
                      <a:r>
                        <a:rPr lang="en-US" sz="1100" dirty="0">
                          <a:solidFill>
                            <a:srgbClr val="E2E8F0"/>
                          </a:solidFill>
                        </a:rPr>
                        <a:t>Storage</a:t>
                      </a:r>
                      <a:endParaRPr lang="en-US" sz="1100" dirty="0"/>
                    </a:p>
                  </a:txBody>
                  <a:tcP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marL="0" indent="0">
                        <a:buNone/>
                      </a:pPr>
                      <a:r>
                        <a:rPr lang="en-US" sz="1100" dirty="0">
                          <a:solidFill>
                            <a:srgbClr val="E2E8F0"/>
                          </a:solidFill>
                        </a:rPr>
                        <a:t>~500 MB free</a:t>
                      </a:r>
                      <a:endParaRPr lang="en-US" sz="1100" dirty="0"/>
                    </a:p>
                  </a:txBody>
                  <a:tcPr>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extLst>
                  <a:ext uri="{0D108BD9-81ED-4DB2-BD59-A6C34878D82A}">
                    <a16:rowId xmlns:a16="http://schemas.microsoft.com/office/drawing/2014/main" val="10004"/>
                  </a:ext>
                </a:extLst>
              </a:tr>
            </a:tbl>
          </a:graphicData>
        </a:graphic>
      </p:graphicFrame>
      <p:sp>
        <p:nvSpPr>
          <p:cNvPr id="7" name="Shape 4"/>
          <p:cNvSpPr/>
          <p:nvPr/>
        </p:nvSpPr>
        <p:spPr>
          <a:xfrm>
            <a:off x="5852160" y="1280160"/>
            <a:ext cx="5879592" cy="3429000"/>
          </a:xfrm>
          <a:prstGeom prst="roundRect">
            <a:avLst>
              <a:gd name="adj" fmla="val 2133"/>
            </a:avLst>
          </a:prstGeom>
          <a:solidFill>
            <a:srgbClr val="0A0F1A"/>
          </a:solidFill>
          <a:ln w="12700">
            <a:solidFill>
              <a:srgbClr val="1E293B"/>
            </a:solidFill>
            <a:prstDash val="solid"/>
          </a:ln>
          <a:effectLst>
            <a:outerShdw blurRad="101600" dist="38100" dir="2700000" algn="bl" rotWithShape="0">
              <a:srgbClr val="000000">
                <a:alpha val="35000"/>
              </a:srgbClr>
            </a:outerShdw>
          </a:effectLst>
        </p:spPr>
      </p:sp>
      <p:sp>
        <p:nvSpPr>
          <p:cNvPr id="8" name="Text 5"/>
          <p:cNvSpPr/>
          <p:nvPr/>
        </p:nvSpPr>
        <p:spPr>
          <a:xfrm>
            <a:off x="6035040" y="1417320"/>
            <a:ext cx="914400" cy="274320"/>
          </a:xfrm>
          <a:prstGeom prst="rect">
            <a:avLst/>
          </a:prstGeom>
          <a:noFill/>
          <a:ln/>
        </p:spPr>
        <p:txBody>
          <a:bodyPr wrap="square" rtlCol="0" anchor="ctr"/>
          <a:lstStyle/>
          <a:p>
            <a:pPr marL="0" indent="0">
              <a:buNone/>
            </a:pPr>
            <a:r>
              <a:rPr lang="en-US" sz="1200" dirty="0">
                <a:solidFill>
                  <a:srgbClr val="94A3B8"/>
                </a:solidFill>
              </a:rPr>
              <a:t>● ● ●</a:t>
            </a:r>
            <a:endParaRPr lang="en-US" sz="1200" dirty="0"/>
          </a:p>
        </p:txBody>
      </p:sp>
      <p:sp>
        <p:nvSpPr>
          <p:cNvPr id="9" name="Text 6"/>
          <p:cNvSpPr/>
          <p:nvPr/>
        </p:nvSpPr>
        <p:spPr>
          <a:xfrm>
            <a:off x="6126480" y="1828800"/>
            <a:ext cx="5486400" cy="2743200"/>
          </a:xfrm>
          <a:prstGeom prst="rect">
            <a:avLst/>
          </a:prstGeom>
          <a:noFill/>
          <a:ln/>
        </p:spPr>
        <p:txBody>
          <a:bodyPr wrap="square" rtlCol="0" anchor="ctr"/>
          <a:lstStyle/>
          <a:p>
            <a:r>
              <a:rPr lang="en-US" sz="1200" dirty="0">
                <a:solidFill>
                  <a:srgbClr val="34D399"/>
                </a:solidFill>
                <a:latin typeface="Consolas" pitchFamily="34" charset="0"/>
                <a:ea typeface="Consolas" pitchFamily="34" charset="-122"/>
                <a:cs typeface="Consolas" pitchFamily="34" charset="-120"/>
              </a:rPr>
              <a:t>$ git clone </a:t>
            </a:r>
            <a:r>
              <a:rPr lang="en-US" sz="1200" dirty="0">
                <a:solidFill>
                  <a:srgbClr val="34D399"/>
                </a:solidFill>
                <a:latin typeface="Consolas" pitchFamily="34" charset="0"/>
                <a:ea typeface="Consolas" pitchFamily="34" charset="-122"/>
                <a:cs typeface="Consolas" pitchFamily="34" charset="-120"/>
              </a:rPr>
              <a:t>https://github.com/rahulkamti11/DSA-Tracker-MERN</a:t>
            </a:r>
            <a:endParaRPr lang="en-US" sz="1200" dirty="0"/>
          </a:p>
          <a:p>
            <a:pPr marL="0" indent="0">
              <a:buNone/>
            </a:pPr>
            <a:r>
              <a:rPr lang="en-US" sz="1200" dirty="0">
                <a:solidFill>
                  <a:srgbClr val="34D399"/>
                </a:solidFill>
                <a:latin typeface="Consolas" pitchFamily="34" charset="0"/>
                <a:ea typeface="Consolas" pitchFamily="34" charset="-122"/>
                <a:cs typeface="Consolas" pitchFamily="34" charset="-120"/>
              </a:rPr>
              <a:t>$ cd DSA-Tracker-MERN</a:t>
            </a:r>
            <a:endParaRPr lang="en-US" sz="1200" dirty="0"/>
          </a:p>
          <a:p>
            <a:pPr marL="0" indent="0">
              <a:buNone/>
            </a:pPr>
            <a:r>
              <a:rPr lang="en-US" sz="1200" dirty="0">
                <a:solidFill>
                  <a:srgbClr val="94A3B8"/>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34D399"/>
                </a:solidFill>
                <a:latin typeface="Consolas" pitchFamily="34" charset="0"/>
                <a:ea typeface="Consolas" pitchFamily="34" charset="-122"/>
                <a:cs typeface="Consolas" pitchFamily="34" charset="-120"/>
              </a:rPr>
              <a:t>$ npm run install-all</a:t>
            </a:r>
            <a:endParaRPr lang="en-US" sz="1200" dirty="0"/>
          </a:p>
          <a:p>
            <a:pPr marL="0" indent="0">
              <a:buNone/>
            </a:pPr>
            <a:r>
              <a:rPr lang="en-US" sz="1200" dirty="0">
                <a:solidFill>
                  <a:srgbClr val="94A3B8"/>
                </a:solidFill>
                <a:latin typeface="Consolas" pitchFamily="34" charset="0"/>
                <a:ea typeface="Consolas" pitchFamily="34" charset="-122"/>
                <a:cs typeface="Consolas" pitchFamily="34" charset="-120"/>
              </a:rPr>
              <a:t>  installing frontend &amp; backend...</a:t>
            </a:r>
            <a:endParaRPr lang="en-US" sz="1200" dirty="0"/>
          </a:p>
          <a:p>
            <a:pPr marL="0" indent="0">
              <a:buNone/>
            </a:pPr>
            <a:r>
              <a:rPr lang="en-US" sz="1200" dirty="0">
                <a:solidFill>
                  <a:srgbClr val="94A3B8"/>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34D399"/>
                </a:solidFill>
                <a:latin typeface="Consolas" pitchFamily="34" charset="0"/>
                <a:ea typeface="Consolas" pitchFamily="34" charset="-122"/>
                <a:cs typeface="Consolas" pitchFamily="34" charset="-120"/>
              </a:rPr>
              <a:t>$ npm run dev</a:t>
            </a:r>
            <a:endParaRPr lang="en-US" sz="1200" dirty="0"/>
          </a:p>
          <a:p>
            <a:pPr marL="0" indent="0">
              <a:buNone/>
            </a:pPr>
            <a:r>
              <a:rPr lang="en-US" sz="1200" dirty="0">
                <a:solidFill>
                  <a:srgbClr val="22D3EE"/>
                </a:solidFill>
                <a:latin typeface="Consolas" pitchFamily="34" charset="0"/>
                <a:ea typeface="Consolas" pitchFamily="34" charset="-122"/>
                <a:cs typeface="Consolas" pitchFamily="34" charset="-120"/>
              </a:rPr>
              <a:t>  ✔ Express API   → :5000</a:t>
            </a:r>
            <a:endParaRPr lang="en-US" sz="1200" dirty="0"/>
          </a:p>
          <a:p>
            <a:pPr marL="0" indent="0">
              <a:buNone/>
            </a:pPr>
            <a:r>
              <a:rPr lang="en-US" sz="1200" dirty="0">
                <a:solidFill>
                  <a:srgbClr val="22D3EE"/>
                </a:solidFill>
                <a:latin typeface="Consolas" pitchFamily="34" charset="0"/>
                <a:ea typeface="Consolas" pitchFamily="34" charset="-122"/>
                <a:cs typeface="Consolas" pitchFamily="34" charset="-120"/>
              </a:rPr>
              <a:t>  ✔ Vite Client   → :5173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Project Roadmap &amp; Future Additions</a:t>
            </a:r>
            <a:endParaRPr lang="en-US" sz="3000" dirty="0"/>
          </a:p>
        </p:txBody>
      </p:sp>
      <p:sp>
        <p:nvSpPr>
          <p:cNvPr id="4" name="Shape 2"/>
          <p:cNvSpPr/>
          <p:nvPr/>
        </p:nvSpPr>
        <p:spPr>
          <a:xfrm>
            <a:off x="457200" y="2514600"/>
            <a:ext cx="11274552" cy="0"/>
          </a:xfrm>
          <a:prstGeom prst="line">
            <a:avLst/>
          </a:prstGeom>
          <a:noFill/>
          <a:ln w="25400">
            <a:solidFill>
              <a:srgbClr val="1E293B"/>
            </a:solidFill>
            <a:prstDash val="solid"/>
          </a:ln>
        </p:spPr>
      </p:sp>
      <p:sp>
        <p:nvSpPr>
          <p:cNvPr id="5" name="Shape 3"/>
          <p:cNvSpPr/>
          <p:nvPr/>
        </p:nvSpPr>
        <p:spPr>
          <a:xfrm>
            <a:off x="1563624" y="2432304"/>
            <a:ext cx="164592" cy="164592"/>
          </a:xfrm>
          <a:prstGeom prst="ellipse">
            <a:avLst/>
          </a:prstGeom>
          <a:solidFill>
            <a:srgbClr val="22D3EE"/>
          </a:solidFill>
          <a:ln/>
        </p:spPr>
      </p:sp>
      <p:sp>
        <p:nvSpPr>
          <p:cNvPr id="6" name="Shape 4"/>
          <p:cNvSpPr/>
          <p:nvPr/>
        </p:nvSpPr>
        <p:spPr>
          <a:xfrm>
            <a:off x="457200" y="1188720"/>
            <a:ext cx="2377440" cy="1143000"/>
          </a:xfrm>
          <a:prstGeom prst="roundRect">
            <a:avLst>
              <a:gd name="adj" fmla="val 6400"/>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7" name="Text 5"/>
          <p:cNvSpPr/>
          <p:nvPr/>
        </p:nvSpPr>
        <p:spPr>
          <a:xfrm>
            <a:off x="594360" y="1261872"/>
            <a:ext cx="1371600" cy="274320"/>
          </a:xfrm>
          <a:prstGeom prst="rect">
            <a:avLst/>
          </a:prstGeom>
          <a:noFill/>
          <a:ln/>
        </p:spPr>
        <p:txBody>
          <a:bodyPr wrap="square" rtlCol="0" anchor="ctr"/>
          <a:lstStyle/>
          <a:p>
            <a:pPr marL="0" indent="0">
              <a:buNone/>
            </a:pPr>
            <a:r>
              <a:rPr lang="en-US" sz="1100" b="1" dirty="0">
                <a:solidFill>
                  <a:srgbClr val="FBBF24"/>
                </a:solidFill>
              </a:rPr>
              <a:t>Q3</a:t>
            </a:r>
            <a:endParaRPr lang="en-US" sz="1100" dirty="0"/>
          </a:p>
        </p:txBody>
      </p:sp>
      <p:sp>
        <p:nvSpPr>
          <p:cNvPr id="8" name="Text 6"/>
          <p:cNvSpPr/>
          <p:nvPr/>
        </p:nvSpPr>
        <p:spPr>
          <a:xfrm>
            <a:off x="594360" y="1508760"/>
            <a:ext cx="2103120" cy="365760"/>
          </a:xfrm>
          <a:prstGeom prst="rect">
            <a:avLst/>
          </a:prstGeom>
          <a:noFill/>
          <a:ln/>
        </p:spPr>
        <p:txBody>
          <a:bodyPr wrap="square" rtlCol="0" anchor="ctr"/>
          <a:lstStyle/>
          <a:p>
            <a:pPr marL="0" indent="0">
              <a:buNone/>
            </a:pPr>
            <a:r>
              <a:rPr lang="en-US" sz="1150" b="1" dirty="0">
                <a:solidFill>
                  <a:srgbClr val="E2E8F0"/>
                </a:solidFill>
              </a:rPr>
              <a:t>LeetCode Sync Extension</a:t>
            </a:r>
            <a:endParaRPr lang="en-US" sz="1150" dirty="0"/>
          </a:p>
        </p:txBody>
      </p:sp>
      <p:sp>
        <p:nvSpPr>
          <p:cNvPr id="9" name="Text 7"/>
          <p:cNvSpPr/>
          <p:nvPr/>
        </p:nvSpPr>
        <p:spPr>
          <a:xfrm>
            <a:off x="594360" y="1847088"/>
            <a:ext cx="2103120" cy="457200"/>
          </a:xfrm>
          <a:prstGeom prst="rect">
            <a:avLst/>
          </a:prstGeom>
          <a:noFill/>
          <a:ln/>
        </p:spPr>
        <p:txBody>
          <a:bodyPr wrap="square" rtlCol="0" anchor="ctr"/>
          <a:lstStyle/>
          <a:p>
            <a:pPr marL="0" indent="0">
              <a:buNone/>
            </a:pPr>
            <a:r>
              <a:rPr lang="en-US" sz="900" dirty="0">
                <a:solidFill>
                  <a:srgbClr val="94A3B8"/>
                </a:solidFill>
              </a:rPr>
              <a:t>Chrome extension auto-logs successful LeetCode/GFG submissions</a:t>
            </a:r>
            <a:endParaRPr lang="en-US" sz="900" dirty="0"/>
          </a:p>
        </p:txBody>
      </p:sp>
      <p:sp>
        <p:nvSpPr>
          <p:cNvPr id="10" name="Shape 8"/>
          <p:cNvSpPr/>
          <p:nvPr/>
        </p:nvSpPr>
        <p:spPr>
          <a:xfrm>
            <a:off x="4529328" y="2432304"/>
            <a:ext cx="164592" cy="164592"/>
          </a:xfrm>
          <a:prstGeom prst="ellipse">
            <a:avLst/>
          </a:prstGeom>
          <a:solidFill>
            <a:srgbClr val="22D3EE"/>
          </a:solidFill>
          <a:ln/>
        </p:spPr>
      </p:sp>
      <p:sp>
        <p:nvSpPr>
          <p:cNvPr id="11" name="Shape 9"/>
          <p:cNvSpPr/>
          <p:nvPr/>
        </p:nvSpPr>
        <p:spPr>
          <a:xfrm>
            <a:off x="3422904" y="2834640"/>
            <a:ext cx="2377440" cy="1143000"/>
          </a:xfrm>
          <a:prstGeom prst="roundRect">
            <a:avLst>
              <a:gd name="adj" fmla="val 6400"/>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12" name="Text 10"/>
          <p:cNvSpPr/>
          <p:nvPr/>
        </p:nvSpPr>
        <p:spPr>
          <a:xfrm>
            <a:off x="3560064" y="2907792"/>
            <a:ext cx="1371600" cy="274320"/>
          </a:xfrm>
          <a:prstGeom prst="rect">
            <a:avLst/>
          </a:prstGeom>
          <a:noFill/>
          <a:ln/>
        </p:spPr>
        <p:txBody>
          <a:bodyPr wrap="square" rtlCol="0" anchor="ctr"/>
          <a:lstStyle/>
          <a:p>
            <a:pPr marL="0" indent="0">
              <a:buNone/>
            </a:pPr>
            <a:r>
              <a:rPr lang="en-US" sz="1100" b="1" dirty="0">
                <a:solidFill>
                  <a:srgbClr val="FBBF24"/>
                </a:solidFill>
              </a:rPr>
              <a:t>Q4</a:t>
            </a:r>
            <a:endParaRPr lang="en-US" sz="1100" dirty="0"/>
          </a:p>
        </p:txBody>
      </p:sp>
      <p:sp>
        <p:nvSpPr>
          <p:cNvPr id="13" name="Text 11"/>
          <p:cNvSpPr/>
          <p:nvPr/>
        </p:nvSpPr>
        <p:spPr>
          <a:xfrm>
            <a:off x="3560064" y="3154680"/>
            <a:ext cx="2103120" cy="365760"/>
          </a:xfrm>
          <a:prstGeom prst="rect">
            <a:avLst/>
          </a:prstGeom>
          <a:noFill/>
          <a:ln/>
        </p:spPr>
        <p:txBody>
          <a:bodyPr wrap="square" rtlCol="0" anchor="ctr"/>
          <a:lstStyle/>
          <a:p>
            <a:pPr marL="0" indent="0">
              <a:buNone/>
            </a:pPr>
            <a:r>
              <a:rPr lang="en-US" sz="1150" b="1" dirty="0">
                <a:solidFill>
                  <a:srgbClr val="E2E8F0"/>
                </a:solidFill>
              </a:rPr>
              <a:t>AI Note Enhancements</a:t>
            </a:r>
            <a:endParaRPr lang="en-US" sz="1150" dirty="0"/>
          </a:p>
        </p:txBody>
      </p:sp>
      <p:sp>
        <p:nvSpPr>
          <p:cNvPr id="14" name="Text 12"/>
          <p:cNvSpPr/>
          <p:nvPr/>
        </p:nvSpPr>
        <p:spPr>
          <a:xfrm>
            <a:off x="3560064" y="3493008"/>
            <a:ext cx="2103120" cy="457200"/>
          </a:xfrm>
          <a:prstGeom prst="rect">
            <a:avLst/>
          </a:prstGeom>
          <a:noFill/>
          <a:ln/>
        </p:spPr>
        <p:txBody>
          <a:bodyPr wrap="square" rtlCol="0" anchor="ctr"/>
          <a:lstStyle/>
          <a:p>
            <a:pPr marL="0" indent="0">
              <a:buNone/>
            </a:pPr>
            <a:r>
              <a:rPr lang="en-US" sz="900" dirty="0">
                <a:solidFill>
                  <a:srgbClr val="94A3B8"/>
                </a:solidFill>
              </a:rPr>
              <a:t>AI-generated summaries of markdown notes and key intuitions</a:t>
            </a:r>
            <a:endParaRPr lang="en-US" sz="900" dirty="0"/>
          </a:p>
        </p:txBody>
      </p:sp>
      <p:sp>
        <p:nvSpPr>
          <p:cNvPr id="15" name="Shape 13"/>
          <p:cNvSpPr/>
          <p:nvPr/>
        </p:nvSpPr>
        <p:spPr>
          <a:xfrm>
            <a:off x="7495032" y="2432304"/>
            <a:ext cx="164592" cy="164592"/>
          </a:xfrm>
          <a:prstGeom prst="ellipse">
            <a:avLst/>
          </a:prstGeom>
          <a:solidFill>
            <a:srgbClr val="22D3EE"/>
          </a:solidFill>
          <a:ln/>
        </p:spPr>
      </p:sp>
      <p:sp>
        <p:nvSpPr>
          <p:cNvPr id="16" name="Shape 14"/>
          <p:cNvSpPr/>
          <p:nvPr/>
        </p:nvSpPr>
        <p:spPr>
          <a:xfrm>
            <a:off x="6388608" y="1188720"/>
            <a:ext cx="2377440" cy="1143000"/>
          </a:xfrm>
          <a:prstGeom prst="roundRect">
            <a:avLst>
              <a:gd name="adj" fmla="val 6400"/>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17" name="Text 15"/>
          <p:cNvSpPr/>
          <p:nvPr/>
        </p:nvSpPr>
        <p:spPr>
          <a:xfrm>
            <a:off x="6525768" y="1261872"/>
            <a:ext cx="1371600" cy="274320"/>
          </a:xfrm>
          <a:prstGeom prst="rect">
            <a:avLst/>
          </a:prstGeom>
          <a:noFill/>
          <a:ln/>
        </p:spPr>
        <p:txBody>
          <a:bodyPr wrap="square" rtlCol="0" anchor="ctr"/>
          <a:lstStyle/>
          <a:p>
            <a:pPr marL="0" indent="0">
              <a:buNone/>
            </a:pPr>
            <a:r>
              <a:rPr lang="en-US" sz="1100" b="1" dirty="0">
                <a:solidFill>
                  <a:srgbClr val="FBBF24"/>
                </a:solidFill>
              </a:rPr>
              <a:t>Q1'27</a:t>
            </a:r>
            <a:endParaRPr lang="en-US" sz="1100" dirty="0"/>
          </a:p>
        </p:txBody>
      </p:sp>
      <p:sp>
        <p:nvSpPr>
          <p:cNvPr id="18" name="Text 16"/>
          <p:cNvSpPr/>
          <p:nvPr/>
        </p:nvSpPr>
        <p:spPr>
          <a:xfrm>
            <a:off x="6525768" y="1508760"/>
            <a:ext cx="2103120" cy="365760"/>
          </a:xfrm>
          <a:prstGeom prst="rect">
            <a:avLst/>
          </a:prstGeom>
          <a:noFill/>
          <a:ln/>
        </p:spPr>
        <p:txBody>
          <a:bodyPr wrap="square" rtlCol="0" anchor="ctr"/>
          <a:lstStyle/>
          <a:p>
            <a:pPr marL="0" indent="0">
              <a:buNone/>
            </a:pPr>
            <a:r>
              <a:rPr lang="en-US" sz="1150" b="1" dirty="0">
                <a:solidFill>
                  <a:srgbClr val="E2E8F0"/>
                </a:solidFill>
              </a:rPr>
              <a:t>Peer Progress Sharing</a:t>
            </a:r>
            <a:endParaRPr lang="en-US" sz="1150" dirty="0"/>
          </a:p>
        </p:txBody>
      </p:sp>
      <p:sp>
        <p:nvSpPr>
          <p:cNvPr id="19" name="Text 17"/>
          <p:cNvSpPr/>
          <p:nvPr/>
        </p:nvSpPr>
        <p:spPr>
          <a:xfrm>
            <a:off x="6525768" y="1847088"/>
            <a:ext cx="2103120" cy="457200"/>
          </a:xfrm>
          <a:prstGeom prst="rect">
            <a:avLst/>
          </a:prstGeom>
          <a:noFill/>
          <a:ln/>
        </p:spPr>
        <p:txBody>
          <a:bodyPr wrap="square" rtlCol="0" anchor="ctr"/>
          <a:lstStyle/>
          <a:p>
            <a:pPr marL="0" indent="0">
              <a:buNone/>
            </a:pPr>
            <a:r>
              <a:rPr lang="en-US" sz="900" dirty="0">
                <a:solidFill>
                  <a:srgbClr val="94A3B8"/>
                </a:solidFill>
              </a:rPr>
              <a:t>Share collections &amp; trackers publicly with peers or recruiters</a:t>
            </a:r>
            <a:endParaRPr lang="en-US" sz="900" dirty="0"/>
          </a:p>
        </p:txBody>
      </p:sp>
      <p:sp>
        <p:nvSpPr>
          <p:cNvPr id="20" name="Shape 18"/>
          <p:cNvSpPr/>
          <p:nvPr/>
        </p:nvSpPr>
        <p:spPr>
          <a:xfrm>
            <a:off x="10460736" y="2432304"/>
            <a:ext cx="164592" cy="164592"/>
          </a:xfrm>
          <a:prstGeom prst="ellipse">
            <a:avLst/>
          </a:prstGeom>
          <a:solidFill>
            <a:srgbClr val="22D3EE"/>
          </a:solidFill>
          <a:ln/>
        </p:spPr>
      </p:sp>
      <p:sp>
        <p:nvSpPr>
          <p:cNvPr id="21" name="Shape 19"/>
          <p:cNvSpPr/>
          <p:nvPr/>
        </p:nvSpPr>
        <p:spPr>
          <a:xfrm>
            <a:off x="9354312" y="2834640"/>
            <a:ext cx="2377440" cy="1143000"/>
          </a:xfrm>
          <a:prstGeom prst="roundRect">
            <a:avLst>
              <a:gd name="adj" fmla="val 6400"/>
            </a:avLst>
          </a:prstGeom>
          <a:solidFill>
            <a:srgbClr val="0F172A"/>
          </a:solidFill>
          <a:ln w="12700">
            <a:solidFill>
              <a:srgbClr val="1E293B"/>
            </a:solidFill>
            <a:prstDash val="solid"/>
          </a:ln>
          <a:effectLst>
            <a:outerShdw blurRad="101600" dist="38100" dir="2700000" algn="bl" rotWithShape="0">
              <a:srgbClr val="000000">
                <a:alpha val="35000"/>
              </a:srgbClr>
            </a:outerShdw>
          </a:effectLst>
        </p:spPr>
      </p:sp>
      <p:sp>
        <p:nvSpPr>
          <p:cNvPr id="22" name="Text 20"/>
          <p:cNvSpPr/>
          <p:nvPr/>
        </p:nvSpPr>
        <p:spPr>
          <a:xfrm>
            <a:off x="9491472" y="2907792"/>
            <a:ext cx="1371600" cy="274320"/>
          </a:xfrm>
          <a:prstGeom prst="rect">
            <a:avLst/>
          </a:prstGeom>
          <a:noFill/>
          <a:ln/>
        </p:spPr>
        <p:txBody>
          <a:bodyPr wrap="square" rtlCol="0" anchor="ctr"/>
          <a:lstStyle/>
          <a:p>
            <a:pPr marL="0" indent="0">
              <a:buNone/>
            </a:pPr>
            <a:r>
              <a:rPr lang="en-US" sz="1100" b="1" dirty="0">
                <a:solidFill>
                  <a:srgbClr val="FBBF24"/>
                </a:solidFill>
              </a:rPr>
              <a:t>Q2'27</a:t>
            </a:r>
            <a:endParaRPr lang="en-US" sz="1100" dirty="0"/>
          </a:p>
        </p:txBody>
      </p:sp>
      <p:sp>
        <p:nvSpPr>
          <p:cNvPr id="23" name="Text 21"/>
          <p:cNvSpPr/>
          <p:nvPr/>
        </p:nvSpPr>
        <p:spPr>
          <a:xfrm>
            <a:off x="9491472" y="3154680"/>
            <a:ext cx="2103120" cy="365760"/>
          </a:xfrm>
          <a:prstGeom prst="rect">
            <a:avLst/>
          </a:prstGeom>
          <a:noFill/>
          <a:ln/>
        </p:spPr>
        <p:txBody>
          <a:bodyPr wrap="square" rtlCol="0" anchor="ctr"/>
          <a:lstStyle/>
          <a:p>
            <a:pPr marL="0" indent="0">
              <a:buNone/>
            </a:pPr>
            <a:r>
              <a:rPr lang="en-US" sz="1150" b="1" dirty="0">
                <a:solidFill>
                  <a:srgbClr val="E2E8F0"/>
                </a:solidFill>
              </a:rPr>
              <a:t>Native Mobile Apps</a:t>
            </a:r>
            <a:endParaRPr lang="en-US" sz="1150" dirty="0"/>
          </a:p>
        </p:txBody>
      </p:sp>
      <p:sp>
        <p:nvSpPr>
          <p:cNvPr id="24" name="Text 22"/>
          <p:cNvSpPr/>
          <p:nvPr/>
        </p:nvSpPr>
        <p:spPr>
          <a:xfrm>
            <a:off x="9491472" y="3493008"/>
            <a:ext cx="2103120" cy="457200"/>
          </a:xfrm>
          <a:prstGeom prst="rect">
            <a:avLst/>
          </a:prstGeom>
          <a:noFill/>
          <a:ln/>
        </p:spPr>
        <p:txBody>
          <a:bodyPr wrap="square" rtlCol="0" anchor="ctr"/>
          <a:lstStyle/>
          <a:p>
            <a:pPr marL="0" indent="0">
              <a:buNone/>
            </a:pPr>
            <a:r>
              <a:rPr lang="en-US" sz="900" dirty="0">
                <a:solidFill>
                  <a:srgbClr val="94A3B8"/>
                </a:solidFill>
              </a:rPr>
              <a:t>React dashboard packaged via Capacitor / React Native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75414" y="2600855"/>
            <a:ext cx="12188952" cy="914400"/>
          </a:xfrm>
          <a:prstGeom prst="rect">
            <a:avLst/>
          </a:prstGeom>
          <a:noFill/>
          <a:ln/>
        </p:spPr>
        <p:txBody>
          <a:bodyPr wrap="square" rtlCol="0" anchor="ctr"/>
          <a:lstStyle/>
          <a:p>
            <a:pPr marL="0" indent="0" algn="ctr">
              <a:buNone/>
            </a:pPr>
            <a:r>
              <a:rPr lang="en-US" sz="4400" b="1" dirty="0">
                <a:solidFill>
                  <a:srgbClr val="FFFFFF"/>
                </a:solidFill>
              </a:rPr>
              <a:t>Thank You</a:t>
            </a:r>
            <a:endParaRPr lang="en-US" sz="4400" dirty="0"/>
          </a:p>
        </p:txBody>
      </p:sp>
      <p:pic>
        <p:nvPicPr>
          <p:cNvPr id="5" name="Image 0" descr="preencoded.png"/>
          <p:cNvPicPr>
            <a:picLocks noChangeAspect="1"/>
          </p:cNvPicPr>
          <p:nvPr/>
        </p:nvPicPr>
        <p:blipFill>
          <a:blip r:embed="rId3"/>
          <a:stretch>
            <a:fillRect/>
          </a:stretch>
        </p:blipFill>
        <p:spPr>
          <a:xfrm>
            <a:off x="3859805" y="4152130"/>
            <a:ext cx="256032" cy="2560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 3"/>
          <p:cNvSpPr/>
          <p:nvPr/>
        </p:nvSpPr>
        <p:spPr>
          <a:xfrm>
            <a:off x="4364421" y="4133842"/>
            <a:ext cx="4572000" cy="274320"/>
          </a:xfrm>
          <a:prstGeom prst="rect">
            <a:avLst/>
          </a:prstGeom>
          <a:noFill/>
          <a:ln/>
        </p:spPr>
        <p:txBody>
          <a:bodyPr wrap="square" rtlCol="0" anchor="ctr"/>
          <a:lstStyle/>
          <a:p>
            <a:pPr marL="0" indent="0">
              <a:buNone/>
            </a:pPr>
            <a:r>
              <a:rPr lang="en-US" sz="1100" dirty="0" smtClean="0">
                <a:solidFill>
                  <a:srgbClr val="94A3B8"/>
                </a:solidFill>
                <a:latin typeface="Consolas" pitchFamily="34" charset="0"/>
                <a:ea typeface="Consolas" pitchFamily="34" charset="-122"/>
                <a:cs typeface="Consolas" pitchFamily="34" charset="-120"/>
              </a:rPr>
              <a:t>https://github.com/rahulkamti11/DSA-Tracker-MERN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1286</Words>
  <Application>Microsoft Office PowerPoint</Application>
  <PresentationFormat>Widescreen</PresentationFormat>
  <Paragraphs>186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 Tracker with Spaced Repetition</dc:title>
  <dc:subject>PptxGenJS Presentation</dc:subject>
  <dc:creator>Rahul Kamti</dc:creator>
  <cp:lastModifiedBy>RAHUL</cp:lastModifiedBy>
  <cp:revision>3</cp:revision>
  <dcterms:created xsi:type="dcterms:W3CDTF">2026-07-07T08:37:23Z</dcterms:created>
  <dcterms:modified xsi:type="dcterms:W3CDTF">2026-07-07T09:21:10Z</dcterms:modified>
</cp:coreProperties>
</file>